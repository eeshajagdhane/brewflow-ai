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10287000" cx="18288000"/>
  <p:notesSz cx="6858000" cy="9144000"/>
  <p:embeddedFontLst>
    <p:embeddedFont>
      <p:font typeface="Garamond"/>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jU0X+vGJMIQGF9pl2SVvdL9e2u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E5CE00-8E91-4903-B5BB-D88EA2FC722F}">
  <a:tblStyle styleId="{8FE5CE00-8E91-4903-B5BB-D88EA2FC722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Garamond-regular.fntdata"/><Relationship Id="rId21" Type="http://schemas.openxmlformats.org/officeDocument/2006/relationships/slide" Target="slides/slide15.xml"/><Relationship Id="rId24" Type="http://schemas.openxmlformats.org/officeDocument/2006/relationships/font" Target="fonts/Garamond-italic.fntdata"/><Relationship Id="rId23" Type="http://schemas.openxmlformats.org/officeDocument/2006/relationships/font" Target="fonts/Garamon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Garamon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efe23690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1200"/>
              </a:spcBef>
              <a:spcAft>
                <a:spcPts val="0"/>
              </a:spcAft>
              <a:buSzPts val="1100"/>
              <a:buNone/>
            </a:pPr>
            <a:r>
              <a:t/>
            </a:r>
            <a:endParaRPr/>
          </a:p>
        </p:txBody>
      </p:sp>
      <p:sp>
        <p:nvSpPr>
          <p:cNvPr id="83" name="Google Shape;83;g3defe23690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0fca77a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1200"/>
              </a:spcBef>
              <a:spcAft>
                <a:spcPts val="0"/>
              </a:spcAft>
              <a:buSzPts val="1100"/>
              <a:buNone/>
            </a:pPr>
            <a:r>
              <a:rPr lang="en-US"/>
              <a:t>"Quick recap for context. The core problem is that baristas rely on memory to guide undecided customers — that leads to inconsistent recommendations and slower service. Our goal was to build a structured AI assistant that walks baristas through a question flow, surfaces inventory priorities for managers, and uses GenAI narrowly to explain results — with humans making all final calls."</a:t>
            </a:r>
            <a:endParaRPr/>
          </a:p>
        </p:txBody>
      </p:sp>
      <p:sp>
        <p:nvSpPr>
          <p:cNvPr id="95" name="Google Shape;95;g3e0fca77ab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909bb5d74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1200"/>
              </a:spcBef>
              <a:spcAft>
                <a:spcPts val="0"/>
              </a:spcAft>
              <a:buSzPts val="1100"/>
              <a:buNone/>
            </a:pPr>
            <a:r>
              <a:rPr lang="en-US"/>
              <a:t>"Here's the overall workflow we designed. It covers the full customer ordering journey on one side, and the manager operations track on the other. Each step maps directly to one of our six skills, which we'll go through next."</a:t>
            </a:r>
            <a:endParaRPr/>
          </a:p>
        </p:txBody>
      </p:sp>
      <p:sp>
        <p:nvSpPr>
          <p:cNvPr id="127" name="Google Shape;127;g3e909bb5d74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820037912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1200"/>
              </a:spcBef>
              <a:spcAft>
                <a:spcPts val="0"/>
              </a:spcAft>
              <a:buSzPts val="1100"/>
              <a:buNone/>
            </a:pPr>
            <a:r>
              <a:rPr lang="en-US"/>
              <a:t>"Here's the overall workflow we designed. It covers the full customer ordering journey on one side, and the manager operations track on the other. Each step maps directly to one of our six skills, which we'll go through next."</a:t>
            </a:r>
            <a:endParaRPr/>
          </a:p>
        </p:txBody>
      </p:sp>
      <p:sp>
        <p:nvSpPr>
          <p:cNvPr id="134" name="Google Shape;134;g3e820037912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868c9b429_0_3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g3e868c9b429_0_3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1" name="Google Shape;141;g3e868c9b429_0_3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868c9b429_0_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g3e868c9b429_0_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7" name="Google Shape;177;g3e868c9b429_0_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868c9b429_1_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g3e868c9b429_1_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3" name="Google Shape;203;g3e868c9b429_1_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e817c41732_0_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g3e817c41732_0_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2" name="Google Shape;252;g3e817c41732_0_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868c9b429_1_48: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g3e868c9b429_1_48: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1" name="Google Shape;291;g3e868c9b429_1_48: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e868c9b429_1_5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g3e868c9b429_1_5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03" name="Google Shape;303;g3e868c9b429_1_5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e868c9b429_1_7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g3e868c9b429_1_7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9" name="Google Shape;319;g3e868c9b429_1_7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e868c9b429_1_108: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g3e868c9b429_1_108: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54" name="Google Shape;354;g3e868c9b429_1_108: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e868c9b429_1_12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g3e868c9b429_1_12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73" name="Google Shape;373;g3e868c9b429_1_12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e868c9b429_1_15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g3e868c9b429_1_15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02" name="Google Shape;402;g3e868c9b429_1_15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868c9b429_1_18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g3e868c9b429_1_18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25" name="Google Shape;425;g3e868c9b429_1_18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
          <p:cNvSpPr/>
          <p:nvPr>
            <p:ph idx="2" type="pic"/>
          </p:nvPr>
        </p:nvSpPr>
        <p:spPr>
          <a:xfrm>
            <a:off x="1792288" y="612775"/>
            <a:ext cx="5486400" cy="4114800"/>
          </a:xfrm>
          <a:prstGeom prst="rect">
            <a:avLst/>
          </a:prstGeom>
          <a:noFill/>
          <a:ln>
            <a:noFill/>
          </a:ln>
        </p:spPr>
      </p:sp>
      <p:sp>
        <p:nvSpPr>
          <p:cNvPr id="64" name="Google Shape;64;p1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84" name="Shape 84"/>
        <p:cNvGrpSpPr/>
        <p:nvPr/>
      </p:nvGrpSpPr>
      <p:grpSpPr>
        <a:xfrm>
          <a:off x="0" y="0"/>
          <a:ext cx="0" cy="0"/>
          <a:chOff x="0" y="0"/>
          <a:chExt cx="0" cy="0"/>
        </a:xfrm>
      </p:grpSpPr>
      <p:pic>
        <p:nvPicPr>
          <p:cNvPr id="85" name="Google Shape;85;g3defe236904_0_0"/>
          <p:cNvPicPr preferRelativeResize="0"/>
          <p:nvPr/>
        </p:nvPicPr>
        <p:blipFill rotWithShape="1">
          <a:blip r:embed="rId3">
            <a:alphaModFix/>
          </a:blip>
          <a:srcRect b="0" l="0" r="0" t="0"/>
          <a:stretch/>
        </p:blipFill>
        <p:spPr>
          <a:xfrm>
            <a:off x="10668000" y="0"/>
            <a:ext cx="7620000" cy="10287001"/>
          </a:xfrm>
          <a:prstGeom prst="rect">
            <a:avLst/>
          </a:prstGeom>
          <a:noFill/>
          <a:ln>
            <a:noFill/>
          </a:ln>
        </p:spPr>
      </p:pic>
      <p:sp>
        <p:nvSpPr>
          <p:cNvPr id="86" name="Google Shape;86;g3defe236904_0_0"/>
          <p:cNvSpPr/>
          <p:nvPr/>
        </p:nvSpPr>
        <p:spPr>
          <a:xfrm>
            <a:off x="10668000" y="0"/>
            <a:ext cx="7620000" cy="10287000"/>
          </a:xfrm>
          <a:prstGeom prst="rect">
            <a:avLst/>
          </a:prstGeom>
          <a:solidFill>
            <a:srgbClr val="372414">
              <a:alpha val="6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3defe236904_0_0"/>
          <p:cNvSpPr/>
          <p:nvPr/>
        </p:nvSpPr>
        <p:spPr>
          <a:xfrm>
            <a:off x="457200" y="3200400"/>
            <a:ext cx="228600" cy="3200400"/>
          </a:xfrm>
          <a:prstGeom prst="rect">
            <a:avLst/>
          </a:prstGeom>
          <a:solidFill>
            <a:srgbClr val="F5C78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3defe236904_0_0"/>
          <p:cNvSpPr txBox="1"/>
          <p:nvPr/>
        </p:nvSpPr>
        <p:spPr>
          <a:xfrm>
            <a:off x="914400" y="457200"/>
            <a:ext cx="9753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C6B49A"/>
                </a:solidFill>
                <a:latin typeface="Garamond"/>
                <a:ea typeface="Garamond"/>
                <a:cs typeface="Garamond"/>
                <a:sym typeface="Garamond"/>
              </a:rPr>
              <a:t>MGTA 495 • Milestone </a:t>
            </a:r>
            <a:r>
              <a:rPr i="1" lang="en-US">
                <a:solidFill>
                  <a:srgbClr val="C6B49A"/>
                </a:solidFill>
                <a:latin typeface="Garamond"/>
                <a:ea typeface="Garamond"/>
                <a:cs typeface="Garamond"/>
                <a:sym typeface="Garamond"/>
              </a:rPr>
              <a:t>4 </a:t>
            </a:r>
            <a:r>
              <a:rPr b="0" i="1" lang="en-US" sz="1400" u="none" cap="none" strike="noStrike">
                <a:solidFill>
                  <a:srgbClr val="C6B49A"/>
                </a:solidFill>
                <a:latin typeface="Garamond"/>
                <a:ea typeface="Garamond"/>
                <a:cs typeface="Garamond"/>
                <a:sym typeface="Garamond"/>
              </a:rPr>
              <a:t>• </a:t>
            </a:r>
            <a:r>
              <a:rPr i="1" lang="en-US">
                <a:solidFill>
                  <a:srgbClr val="C6B49A"/>
                </a:solidFill>
                <a:latin typeface="Garamond"/>
                <a:ea typeface="Garamond"/>
                <a:cs typeface="Garamond"/>
                <a:sym typeface="Garamond"/>
              </a:rPr>
              <a:t>Final Presentation</a:t>
            </a:r>
            <a:endParaRPr b="0" i="0" sz="1400" u="none" cap="none" strike="noStrike">
              <a:solidFill>
                <a:srgbClr val="000000"/>
              </a:solidFill>
              <a:latin typeface="Arial"/>
              <a:ea typeface="Arial"/>
              <a:cs typeface="Arial"/>
              <a:sym typeface="Arial"/>
            </a:endParaRPr>
          </a:p>
        </p:txBody>
      </p:sp>
      <p:sp>
        <p:nvSpPr>
          <p:cNvPr id="89" name="Google Shape;89;g3defe236904_0_0"/>
          <p:cNvSpPr txBox="1"/>
          <p:nvPr/>
        </p:nvSpPr>
        <p:spPr>
          <a:xfrm>
            <a:off x="914400" y="3200400"/>
            <a:ext cx="9753600" cy="1785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6400">
                <a:solidFill>
                  <a:srgbClr val="F5C784"/>
                </a:solidFill>
                <a:latin typeface="Garamond"/>
                <a:ea typeface="Garamond"/>
                <a:cs typeface="Garamond"/>
                <a:sym typeface="Garamond"/>
              </a:rPr>
              <a:t>BrewFlow AI</a:t>
            </a:r>
            <a:endParaRPr b="1" sz="6400">
              <a:solidFill>
                <a:srgbClr val="F5C784"/>
              </a:solidFill>
              <a:latin typeface="Garamond"/>
              <a:ea typeface="Garamond"/>
              <a:cs typeface="Garamond"/>
              <a:sym typeface="Garamond"/>
            </a:endParaRPr>
          </a:p>
        </p:txBody>
      </p:sp>
      <p:sp>
        <p:nvSpPr>
          <p:cNvPr id="90" name="Google Shape;90;g3defe236904_0_0"/>
          <p:cNvSpPr txBox="1"/>
          <p:nvPr/>
        </p:nvSpPr>
        <p:spPr>
          <a:xfrm>
            <a:off x="1023375" y="5812675"/>
            <a:ext cx="4952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1" lang="en-US" sz="2900" u="none" cap="none" strike="noStrike">
                <a:solidFill>
                  <a:srgbClr val="C6B49A"/>
                </a:solidFill>
                <a:latin typeface="Garamond"/>
                <a:ea typeface="Garamond"/>
                <a:cs typeface="Garamond"/>
                <a:sym typeface="Garamond"/>
              </a:rPr>
              <a:t>Skills with MCP and RAD </a:t>
            </a:r>
            <a:endParaRPr b="0" i="0" sz="2500" u="none" cap="none" strike="noStrike">
              <a:solidFill>
                <a:srgbClr val="000000"/>
              </a:solidFill>
              <a:latin typeface="Arial"/>
              <a:ea typeface="Arial"/>
              <a:cs typeface="Arial"/>
              <a:sym typeface="Arial"/>
            </a:endParaRPr>
          </a:p>
        </p:txBody>
      </p:sp>
      <p:sp>
        <p:nvSpPr>
          <p:cNvPr id="91" name="Google Shape;91;g3defe236904_0_0"/>
          <p:cNvSpPr txBox="1"/>
          <p:nvPr/>
        </p:nvSpPr>
        <p:spPr>
          <a:xfrm>
            <a:off x="914400" y="8686800"/>
            <a:ext cx="975360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3000" u="none" cap="none" strike="noStrike">
                <a:solidFill>
                  <a:srgbClr val="F5C784"/>
                </a:solidFill>
                <a:latin typeface="Garamond"/>
                <a:ea typeface="Garamond"/>
                <a:cs typeface="Garamond"/>
                <a:sym typeface="Garamond"/>
              </a:rPr>
              <a:t>Group 8</a:t>
            </a:r>
            <a:r>
              <a:rPr b="0" i="0" lang="en-US" sz="3000" u="none" cap="none" strike="noStrike">
                <a:solidFill>
                  <a:srgbClr val="C6B49A"/>
                </a:solidFill>
                <a:latin typeface="Garamond"/>
                <a:ea typeface="Garamond"/>
                <a:cs typeface="Garamond"/>
                <a:sym typeface="Garamond"/>
              </a:rPr>
              <a:t> - Leia Kawamura / Eesha Jagdhane / Zekai Li</a:t>
            </a:r>
            <a:endParaRPr b="0" i="0" sz="3000" u="none" cap="none" strike="noStrike">
              <a:solidFill>
                <a:srgbClr val="000000"/>
              </a:solidFill>
              <a:latin typeface="Arial"/>
              <a:ea typeface="Arial"/>
              <a:cs typeface="Arial"/>
              <a:sym typeface="Arial"/>
            </a:endParaRPr>
          </a:p>
        </p:txBody>
      </p:sp>
      <p:sp>
        <p:nvSpPr>
          <p:cNvPr id="92" name="Google Shape;92;g3defe236904_0_0"/>
          <p:cNvSpPr txBox="1"/>
          <p:nvPr/>
        </p:nvSpPr>
        <p:spPr>
          <a:xfrm>
            <a:off x="914400" y="4986000"/>
            <a:ext cx="76200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3200">
                <a:solidFill>
                  <a:srgbClr val="EAD9BD"/>
                </a:solidFill>
                <a:latin typeface="Garamond"/>
                <a:ea typeface="Garamond"/>
                <a:cs typeface="Garamond"/>
                <a:sym typeface="Garamond"/>
              </a:rPr>
              <a:t>AI-Augmented Coffee-Shop Operations</a:t>
            </a:r>
            <a:endParaRPr sz="3200">
              <a:solidFill>
                <a:srgbClr val="EAD9BD"/>
              </a:solidFill>
              <a:latin typeface="Garamond"/>
              <a:ea typeface="Garamond"/>
              <a:cs typeface="Garamond"/>
              <a:sym typeface="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96" name="Shape 96"/>
        <p:cNvGrpSpPr/>
        <p:nvPr/>
      </p:nvGrpSpPr>
      <p:grpSpPr>
        <a:xfrm>
          <a:off x="0" y="0"/>
          <a:ext cx="0" cy="0"/>
          <a:chOff x="0" y="0"/>
          <a:chExt cx="0" cy="0"/>
        </a:xfrm>
      </p:grpSpPr>
      <p:sp>
        <p:nvSpPr>
          <p:cNvPr id="97" name="Google Shape;97;g3e0fca77ab1_0_0"/>
          <p:cNvSpPr txBox="1"/>
          <p:nvPr/>
        </p:nvSpPr>
        <p:spPr>
          <a:xfrm>
            <a:off x="92425" y="0"/>
            <a:ext cx="91272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5C784"/>
                </a:solidFill>
                <a:latin typeface="Garamond"/>
                <a:ea typeface="Garamond"/>
                <a:cs typeface="Garamond"/>
                <a:sym typeface="Garamond"/>
              </a:rPr>
              <a:t>Project Overview </a:t>
            </a:r>
            <a:endParaRPr b="0" i="0" sz="1800" u="none" cap="none" strike="noStrike">
              <a:solidFill>
                <a:schemeClr val="dk1"/>
              </a:solidFill>
              <a:latin typeface="Arial"/>
              <a:ea typeface="Arial"/>
              <a:cs typeface="Arial"/>
              <a:sym typeface="Arial"/>
            </a:endParaRPr>
          </a:p>
        </p:txBody>
      </p:sp>
      <p:grpSp>
        <p:nvGrpSpPr>
          <p:cNvPr id="98" name="Google Shape;98;g3e0fca77ab1_0_0"/>
          <p:cNvGrpSpPr/>
          <p:nvPr/>
        </p:nvGrpSpPr>
        <p:grpSpPr>
          <a:xfrm>
            <a:off x="9607925" y="1089935"/>
            <a:ext cx="6865200" cy="4207500"/>
            <a:chOff x="9607925" y="1409310"/>
            <a:chExt cx="6865200" cy="4207500"/>
          </a:xfrm>
        </p:grpSpPr>
        <p:sp>
          <p:nvSpPr>
            <p:cNvPr id="99" name="Google Shape;99;g3e0fca77ab1_0_0"/>
            <p:cNvSpPr/>
            <p:nvPr/>
          </p:nvSpPr>
          <p:spPr>
            <a:xfrm>
              <a:off x="9607925" y="1409310"/>
              <a:ext cx="6865200" cy="4207500"/>
            </a:xfrm>
            <a:prstGeom prst="rect">
              <a:avLst/>
            </a:prstGeom>
            <a:solidFill>
              <a:srgbClr val="F7EBDF"/>
            </a:solidFill>
            <a:ln cap="flat" cmpd="sng" w="30750">
              <a:solidFill>
                <a:srgbClr val="E8D9C0"/>
              </a:solidFill>
              <a:prstDash val="solid"/>
              <a:round/>
              <a:headEnd len="sm" w="sm" type="none"/>
              <a:tailEnd len="sm" w="sm" type="none"/>
            </a:ln>
            <a:effectLst>
              <a:outerShdw blurRad="246061" rotWithShape="0" algn="bl" dir="8100000" dist="61515">
                <a:srgbClr val="000000">
                  <a:alpha val="10196"/>
                </a:srgbClr>
              </a:outerShdw>
            </a:effectLst>
          </p:spPr>
          <p:txBody>
            <a:bodyPr anchorCtr="0" anchor="ctr" bIns="221425" lIns="221425" spcFirstLastPara="1" rIns="221425" wrap="square" tIns="22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g3e0fca77ab1_0_0"/>
            <p:cNvSpPr/>
            <p:nvPr/>
          </p:nvSpPr>
          <p:spPr>
            <a:xfrm>
              <a:off x="9607925" y="1409310"/>
              <a:ext cx="6865200" cy="154800"/>
            </a:xfrm>
            <a:prstGeom prst="rect">
              <a:avLst/>
            </a:prstGeom>
            <a:solidFill>
              <a:srgbClr val="C8943A"/>
            </a:solidFill>
            <a:ln cap="flat" cmpd="sng" w="30750">
              <a:solidFill>
                <a:srgbClr val="C8943A"/>
              </a:solidFill>
              <a:prstDash val="solid"/>
              <a:round/>
              <a:headEnd len="sm" w="sm" type="none"/>
              <a:tailEnd len="sm" w="sm" type="none"/>
            </a:ln>
          </p:spPr>
          <p:txBody>
            <a:bodyPr anchorCtr="0" anchor="ctr" bIns="221425" lIns="221425" spcFirstLastPara="1" rIns="221425" wrap="square" tIns="22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1" name="Google Shape;101;g3e0fca77ab1_0_0"/>
            <p:cNvPicPr preferRelativeResize="0"/>
            <p:nvPr/>
          </p:nvPicPr>
          <p:blipFill rotWithShape="1">
            <a:blip r:embed="rId3">
              <a:alphaModFix/>
            </a:blip>
            <a:srcRect b="0" l="0" r="0" t="0"/>
            <a:stretch/>
          </p:blipFill>
          <p:spPr>
            <a:xfrm>
              <a:off x="10006544" y="1807929"/>
              <a:ext cx="708656" cy="708656"/>
            </a:xfrm>
            <a:prstGeom prst="rect">
              <a:avLst/>
            </a:prstGeom>
            <a:noFill/>
            <a:ln>
              <a:noFill/>
            </a:ln>
          </p:spPr>
        </p:pic>
        <p:sp>
          <p:nvSpPr>
            <p:cNvPr id="102" name="Google Shape;102;g3e0fca77ab1_0_0"/>
            <p:cNvSpPr/>
            <p:nvPr/>
          </p:nvSpPr>
          <p:spPr>
            <a:xfrm>
              <a:off x="10848073" y="1675056"/>
              <a:ext cx="5314800" cy="84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B1F0E"/>
                </a:buClr>
                <a:buSzPts val="2664"/>
                <a:buFont typeface="Calibri"/>
                <a:buNone/>
              </a:pPr>
              <a:r>
                <a:rPr b="1" i="0" lang="en-US" sz="3000" u="none" cap="none" strike="noStrike">
                  <a:solidFill>
                    <a:srgbClr val="3B1F0E"/>
                  </a:solidFill>
                  <a:latin typeface="Garamond"/>
                  <a:ea typeface="Garamond"/>
                  <a:cs typeface="Garamond"/>
                  <a:sym typeface="Garamond"/>
                </a:rPr>
                <a:t>Our Goal</a:t>
              </a:r>
              <a:endParaRPr i="0" sz="3000" u="none" cap="none" strike="noStrike">
                <a:solidFill>
                  <a:srgbClr val="000000"/>
                </a:solidFill>
                <a:latin typeface="Garamond"/>
                <a:ea typeface="Garamond"/>
                <a:cs typeface="Garamond"/>
                <a:sym typeface="Garamond"/>
              </a:endParaRPr>
            </a:p>
          </p:txBody>
        </p:sp>
        <p:sp>
          <p:nvSpPr>
            <p:cNvPr id="103" name="Google Shape;103;g3e0fca77ab1_0_0"/>
            <p:cNvSpPr/>
            <p:nvPr/>
          </p:nvSpPr>
          <p:spPr>
            <a:xfrm>
              <a:off x="10006550" y="2738050"/>
              <a:ext cx="6466500" cy="254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A0E"/>
                </a:buClr>
                <a:buSzPts val="2301"/>
                <a:buFont typeface="Calibri"/>
                <a:buNone/>
              </a:pPr>
              <a:r>
                <a:rPr i="0" lang="en-US" sz="2601" u="none" cap="none" strike="noStrike">
                  <a:solidFill>
                    <a:srgbClr val="2C1A0E"/>
                  </a:solidFill>
                  <a:latin typeface="Garamond"/>
                  <a:ea typeface="Garamond"/>
                  <a:cs typeface="Garamond"/>
                  <a:sym typeface="Garamond"/>
                </a:rPr>
                <a:t>Build a structured AI assistant that:</a:t>
              </a:r>
              <a:endParaRPr i="0" sz="2601" u="none" cap="none" strike="noStrike">
                <a:solidFill>
                  <a:srgbClr val="000000"/>
                </a:solidFill>
                <a:latin typeface="Garamond"/>
                <a:ea typeface="Garamond"/>
                <a:cs typeface="Garamond"/>
                <a:sym typeface="Garamond"/>
              </a:endParaRPr>
            </a:p>
            <a:p>
              <a:pPr indent="-830457" lvl="0" marL="830457"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Guides baristas through a question flow to recommend the right drink</a:t>
              </a:r>
              <a:endParaRPr i="0" sz="2601" u="none" cap="none" strike="noStrike">
                <a:solidFill>
                  <a:srgbClr val="000000"/>
                </a:solidFill>
                <a:latin typeface="Garamond"/>
                <a:ea typeface="Garamond"/>
                <a:cs typeface="Garamond"/>
                <a:sym typeface="Garamond"/>
              </a:endParaRPr>
            </a:p>
            <a:p>
              <a:pPr indent="-830457" lvl="0" marL="830457"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Surfaces inventory insights for managers</a:t>
              </a:r>
              <a:endParaRPr i="0" sz="2601" u="none" cap="none" strike="noStrike">
                <a:solidFill>
                  <a:srgbClr val="000000"/>
                </a:solidFill>
                <a:latin typeface="Garamond"/>
                <a:ea typeface="Garamond"/>
                <a:cs typeface="Garamond"/>
                <a:sym typeface="Garamond"/>
              </a:endParaRPr>
            </a:p>
            <a:p>
              <a:pPr indent="-830457" lvl="0" marL="830457"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Uses GenAI narrowly to explain results </a:t>
              </a:r>
              <a:endParaRPr i="0" sz="2601" u="none" cap="none" strike="noStrike">
                <a:solidFill>
                  <a:srgbClr val="2C1A0E"/>
                </a:solidFill>
                <a:latin typeface="Garamond"/>
                <a:ea typeface="Garamond"/>
                <a:cs typeface="Garamond"/>
                <a:sym typeface="Garamond"/>
              </a:endParaRPr>
            </a:p>
            <a:p>
              <a:pPr indent="0" lvl="0" marL="1107275" marR="0" rtl="0" algn="l">
                <a:lnSpc>
                  <a:spcPct val="100000"/>
                </a:lnSpc>
                <a:spcBef>
                  <a:spcPts val="0"/>
                </a:spcBef>
                <a:spcAft>
                  <a:spcPts val="0"/>
                </a:spcAft>
                <a:buClr>
                  <a:srgbClr val="000000"/>
                </a:buClr>
                <a:buSzPts val="2601"/>
                <a:buFont typeface="Arial"/>
                <a:buNone/>
              </a:pPr>
              <a:r>
                <a:rPr i="0" lang="en-US" sz="2601" u="none" cap="none" strike="noStrike">
                  <a:solidFill>
                    <a:srgbClr val="2C1A0E"/>
                  </a:solidFill>
                  <a:latin typeface="Garamond"/>
                  <a:ea typeface="Garamond"/>
                  <a:cs typeface="Garamond"/>
                  <a:sym typeface="Garamond"/>
                </a:rPr>
                <a:t>— humans decide</a:t>
              </a:r>
              <a:endParaRPr i="0" sz="2601" u="none" cap="none" strike="noStrike">
                <a:solidFill>
                  <a:srgbClr val="000000"/>
                </a:solidFill>
                <a:latin typeface="Garamond"/>
                <a:ea typeface="Garamond"/>
                <a:cs typeface="Garamond"/>
                <a:sym typeface="Garamond"/>
              </a:endParaRPr>
            </a:p>
          </p:txBody>
        </p:sp>
      </p:grpSp>
      <p:grpSp>
        <p:nvGrpSpPr>
          <p:cNvPr id="104" name="Google Shape;104;g3e0fca77ab1_0_0"/>
          <p:cNvGrpSpPr/>
          <p:nvPr/>
        </p:nvGrpSpPr>
        <p:grpSpPr>
          <a:xfrm>
            <a:off x="1586450" y="5609332"/>
            <a:ext cx="14886675" cy="4207800"/>
            <a:chOff x="208425" y="5996107"/>
            <a:chExt cx="14886675" cy="4207800"/>
          </a:xfrm>
        </p:grpSpPr>
        <p:sp>
          <p:nvSpPr>
            <p:cNvPr id="105" name="Google Shape;105;g3e0fca77ab1_0_0"/>
            <p:cNvSpPr txBox="1"/>
            <p:nvPr/>
          </p:nvSpPr>
          <p:spPr>
            <a:xfrm>
              <a:off x="208425" y="9634825"/>
              <a:ext cx="9753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C6B49A"/>
                  </a:solidFill>
                  <a:latin typeface="Garamond"/>
                  <a:ea typeface="Garamond"/>
                  <a:cs typeface="Garamond"/>
                  <a:sym typeface="Garamond"/>
                </a:rPr>
                <a:t>MGTA 495 • Milestone 3 • Skills Demo</a:t>
              </a:r>
              <a:endParaRPr b="0" i="0" sz="1400" u="none" cap="none" strike="noStrike">
                <a:solidFill>
                  <a:srgbClr val="000000"/>
                </a:solidFill>
                <a:latin typeface="Arial"/>
                <a:ea typeface="Arial"/>
                <a:cs typeface="Arial"/>
                <a:sym typeface="Arial"/>
              </a:endParaRPr>
            </a:p>
          </p:txBody>
        </p:sp>
        <p:sp>
          <p:nvSpPr>
            <p:cNvPr id="106" name="Google Shape;106;g3e0fca77ab1_0_0"/>
            <p:cNvSpPr/>
            <p:nvPr/>
          </p:nvSpPr>
          <p:spPr>
            <a:xfrm>
              <a:off x="8229600" y="5996107"/>
              <a:ext cx="6865500" cy="4207800"/>
            </a:xfrm>
            <a:prstGeom prst="rect">
              <a:avLst/>
            </a:prstGeom>
            <a:solidFill>
              <a:srgbClr val="F7EBDF"/>
            </a:solidFill>
            <a:ln cap="flat" cmpd="sng" w="30750">
              <a:solidFill>
                <a:srgbClr val="E8D9C0"/>
              </a:solidFill>
              <a:prstDash val="solid"/>
              <a:round/>
              <a:headEnd len="sm" w="sm" type="none"/>
              <a:tailEnd len="sm" w="sm" type="none"/>
            </a:ln>
            <a:effectLst>
              <a:outerShdw blurRad="246070" rotWithShape="0" algn="bl" dir="8100000" dist="61518">
                <a:srgbClr val="000000">
                  <a:alpha val="10196"/>
                </a:srgbClr>
              </a:outerShdw>
            </a:effectLst>
          </p:spPr>
          <p:txBody>
            <a:bodyPr anchorCtr="0" anchor="ctr" bIns="221425" lIns="221425" spcFirstLastPara="1" rIns="221425" wrap="square" tIns="22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3e0fca77ab1_0_0"/>
            <p:cNvSpPr/>
            <p:nvPr/>
          </p:nvSpPr>
          <p:spPr>
            <a:xfrm>
              <a:off x="8229600" y="5996107"/>
              <a:ext cx="6865500" cy="154800"/>
            </a:xfrm>
            <a:prstGeom prst="rect">
              <a:avLst/>
            </a:prstGeom>
            <a:solidFill>
              <a:srgbClr val="3B1F0E"/>
            </a:solidFill>
            <a:ln cap="flat" cmpd="sng" w="30750">
              <a:solidFill>
                <a:srgbClr val="3B1F0E"/>
              </a:solidFill>
              <a:prstDash val="solid"/>
              <a:round/>
              <a:headEnd len="sm" w="sm" type="none"/>
              <a:tailEnd len="sm" w="sm" type="none"/>
            </a:ln>
          </p:spPr>
          <p:txBody>
            <a:bodyPr anchorCtr="0" anchor="ctr" bIns="221425" lIns="221425" spcFirstLastPara="1" rIns="221425" wrap="square" tIns="22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8" name="Google Shape;108;g3e0fca77ab1_0_0"/>
            <p:cNvPicPr preferRelativeResize="0"/>
            <p:nvPr/>
          </p:nvPicPr>
          <p:blipFill rotWithShape="1">
            <a:blip r:embed="rId4">
              <a:alphaModFix/>
            </a:blip>
            <a:srcRect b="0" l="0" r="0" t="0"/>
            <a:stretch/>
          </p:blipFill>
          <p:spPr>
            <a:xfrm>
              <a:off x="8628234" y="6394741"/>
              <a:ext cx="708682" cy="708682"/>
            </a:xfrm>
            <a:prstGeom prst="rect">
              <a:avLst/>
            </a:prstGeom>
            <a:noFill/>
            <a:ln>
              <a:noFill/>
            </a:ln>
          </p:spPr>
        </p:pic>
        <p:sp>
          <p:nvSpPr>
            <p:cNvPr id="109" name="Google Shape;109;g3e0fca77ab1_0_0"/>
            <p:cNvSpPr/>
            <p:nvPr/>
          </p:nvSpPr>
          <p:spPr>
            <a:xfrm>
              <a:off x="9469793" y="6261863"/>
              <a:ext cx="5315100" cy="84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B1F0E"/>
                </a:buClr>
                <a:buSzPts val="2664"/>
                <a:buFont typeface="Calibri"/>
                <a:buNone/>
              </a:pPr>
              <a:r>
                <a:rPr b="1" i="0" lang="en-US" sz="3000" u="none" cap="none" strike="noStrike">
                  <a:solidFill>
                    <a:srgbClr val="3B1F0E"/>
                  </a:solidFill>
                  <a:latin typeface="Garamond"/>
                  <a:ea typeface="Garamond"/>
                  <a:cs typeface="Garamond"/>
                  <a:sym typeface="Garamond"/>
                </a:rPr>
                <a:t>Business Value</a:t>
              </a:r>
              <a:endParaRPr i="0" sz="3000" u="none" cap="none" strike="noStrike">
                <a:solidFill>
                  <a:srgbClr val="000000"/>
                </a:solidFill>
                <a:latin typeface="Garamond"/>
                <a:ea typeface="Garamond"/>
                <a:cs typeface="Garamond"/>
                <a:sym typeface="Garamond"/>
              </a:endParaRPr>
            </a:p>
          </p:txBody>
        </p:sp>
        <p:sp>
          <p:nvSpPr>
            <p:cNvPr id="110" name="Google Shape;110;g3e0fca77ab1_0_0"/>
            <p:cNvSpPr/>
            <p:nvPr/>
          </p:nvSpPr>
          <p:spPr>
            <a:xfrm>
              <a:off x="8628225" y="7324875"/>
              <a:ext cx="6466800" cy="2546700"/>
            </a:xfrm>
            <a:prstGeom prst="rect">
              <a:avLst/>
            </a:prstGeom>
            <a:noFill/>
            <a:ln>
              <a:noFill/>
            </a:ln>
          </p:spPr>
          <p:txBody>
            <a:bodyPr anchorCtr="0" anchor="ctr" bIns="0" lIns="0" spcFirstLastPara="1" rIns="0" wrap="square" tIns="0">
              <a:noAutofit/>
            </a:bodyPr>
            <a:lstStyle/>
            <a:p>
              <a:pPr indent="-830486" lvl="0" marL="830486"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Faster, consistent ordering for undecided customers</a:t>
              </a:r>
              <a:endParaRPr i="0" sz="2601" u="none" cap="none" strike="noStrike">
                <a:solidFill>
                  <a:srgbClr val="000000"/>
                </a:solidFill>
                <a:latin typeface="Garamond"/>
                <a:ea typeface="Garamond"/>
                <a:cs typeface="Garamond"/>
                <a:sym typeface="Garamond"/>
              </a:endParaRPr>
            </a:p>
            <a:p>
              <a:pPr indent="-830486" lvl="0" marL="830486"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Reduced reliance on barista memory</a:t>
              </a:r>
              <a:endParaRPr i="0" sz="2601" u="none" cap="none" strike="noStrike">
                <a:solidFill>
                  <a:srgbClr val="000000"/>
                </a:solidFill>
                <a:latin typeface="Garamond"/>
                <a:ea typeface="Garamond"/>
                <a:cs typeface="Garamond"/>
                <a:sym typeface="Garamond"/>
              </a:endParaRPr>
            </a:p>
            <a:p>
              <a:pPr indent="-830486" lvl="0" marL="830486"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Inventory</a:t>
              </a:r>
              <a:endParaRPr i="0" sz="2601" u="none" cap="none" strike="noStrike">
                <a:solidFill>
                  <a:srgbClr val="2C1A0E"/>
                </a:solidFill>
                <a:latin typeface="Garamond"/>
                <a:ea typeface="Garamond"/>
                <a:cs typeface="Garamond"/>
                <a:sym typeface="Garamond"/>
              </a:endParaRPr>
            </a:p>
            <a:p>
              <a:pPr indent="0" lvl="0" marL="1107316" marR="0" rtl="0" algn="l">
                <a:lnSpc>
                  <a:spcPct val="100000"/>
                </a:lnSpc>
                <a:spcBef>
                  <a:spcPts val="0"/>
                </a:spcBef>
                <a:spcAft>
                  <a:spcPts val="0"/>
                </a:spcAft>
                <a:buClr>
                  <a:srgbClr val="000000"/>
                </a:buClr>
                <a:buSzPts val="2601"/>
                <a:buFont typeface="Arial"/>
                <a:buNone/>
              </a:pPr>
              <a:r>
                <a:rPr i="0" lang="en-US" sz="2601" u="none" cap="none" strike="noStrike">
                  <a:solidFill>
                    <a:srgbClr val="2C1A0E"/>
                  </a:solidFill>
                  <a:latin typeface="Garamond"/>
                  <a:ea typeface="Garamond"/>
                  <a:cs typeface="Garamond"/>
                  <a:sym typeface="Garamond"/>
                </a:rPr>
                <a:t>- aware recommendations per shift</a:t>
              </a:r>
              <a:endParaRPr i="0" sz="2601" u="none" cap="none" strike="noStrike">
                <a:solidFill>
                  <a:srgbClr val="000000"/>
                </a:solidFill>
                <a:latin typeface="Garamond"/>
                <a:ea typeface="Garamond"/>
                <a:cs typeface="Garamond"/>
                <a:sym typeface="Garamond"/>
              </a:endParaRPr>
            </a:p>
            <a:p>
              <a:pPr indent="-830486" lvl="0" marL="830486"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GenAI surfaces insights; all final decisions stay with staff</a:t>
              </a:r>
              <a:endParaRPr i="0" sz="2601" u="none" cap="none" strike="noStrike">
                <a:solidFill>
                  <a:srgbClr val="000000"/>
                </a:solidFill>
                <a:latin typeface="Garamond"/>
                <a:ea typeface="Garamond"/>
                <a:cs typeface="Garamond"/>
                <a:sym typeface="Garamond"/>
              </a:endParaRPr>
            </a:p>
          </p:txBody>
        </p:sp>
      </p:grpSp>
      <p:grpSp>
        <p:nvGrpSpPr>
          <p:cNvPr id="111" name="Google Shape;111;g3e0fca77ab1_0_0"/>
          <p:cNvGrpSpPr/>
          <p:nvPr/>
        </p:nvGrpSpPr>
        <p:grpSpPr>
          <a:xfrm>
            <a:off x="1357927" y="5609477"/>
            <a:ext cx="6865225" cy="4207505"/>
            <a:chOff x="935314" y="5996102"/>
            <a:chExt cx="6865225" cy="4207505"/>
          </a:xfrm>
        </p:grpSpPr>
        <p:grpSp>
          <p:nvGrpSpPr>
            <p:cNvPr id="112" name="Google Shape;112;g3e0fca77ab1_0_0"/>
            <p:cNvGrpSpPr/>
            <p:nvPr/>
          </p:nvGrpSpPr>
          <p:grpSpPr>
            <a:xfrm>
              <a:off x="935314" y="5996107"/>
              <a:ext cx="6865200" cy="4207500"/>
              <a:chOff x="935314" y="5996107"/>
              <a:chExt cx="6865200" cy="4207500"/>
            </a:xfrm>
          </p:grpSpPr>
          <p:sp>
            <p:nvSpPr>
              <p:cNvPr id="113" name="Google Shape;113;g3e0fca77ab1_0_0"/>
              <p:cNvSpPr/>
              <p:nvPr/>
            </p:nvSpPr>
            <p:spPr>
              <a:xfrm>
                <a:off x="935314" y="5996107"/>
                <a:ext cx="6865200" cy="4207500"/>
              </a:xfrm>
              <a:prstGeom prst="rect">
                <a:avLst/>
              </a:prstGeom>
              <a:solidFill>
                <a:srgbClr val="F7EBDF"/>
              </a:solidFill>
              <a:ln cap="flat" cmpd="sng" w="30750">
                <a:solidFill>
                  <a:srgbClr val="E8D9C0"/>
                </a:solidFill>
                <a:prstDash val="solid"/>
                <a:round/>
                <a:headEnd len="sm" w="sm" type="none"/>
                <a:tailEnd len="sm" w="sm" type="none"/>
              </a:ln>
              <a:effectLst>
                <a:outerShdw blurRad="246059" rotWithShape="0" algn="bl" dir="8100000" dist="61515">
                  <a:srgbClr val="000000">
                    <a:alpha val="10196"/>
                  </a:srgbClr>
                </a:outerShdw>
              </a:effectLst>
            </p:spPr>
            <p:txBody>
              <a:bodyPr anchorCtr="0" anchor="ctr" bIns="221425" lIns="221425" spcFirstLastPara="1" rIns="221425" wrap="square" tIns="22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4" name="Google Shape;114;g3e0fca77ab1_0_0"/>
              <p:cNvPicPr preferRelativeResize="0"/>
              <p:nvPr/>
            </p:nvPicPr>
            <p:blipFill rotWithShape="1">
              <a:blip r:embed="rId5">
                <a:alphaModFix/>
              </a:blip>
              <a:srcRect b="0" l="0" r="0" t="0"/>
              <a:stretch/>
            </p:blipFill>
            <p:spPr>
              <a:xfrm>
                <a:off x="1333930" y="6394723"/>
                <a:ext cx="708651" cy="708651"/>
              </a:xfrm>
              <a:prstGeom prst="rect">
                <a:avLst/>
              </a:prstGeom>
              <a:noFill/>
              <a:ln>
                <a:noFill/>
              </a:ln>
            </p:spPr>
          </p:pic>
          <p:sp>
            <p:nvSpPr>
              <p:cNvPr id="115" name="Google Shape;115;g3e0fca77ab1_0_0"/>
              <p:cNvSpPr/>
              <p:nvPr/>
            </p:nvSpPr>
            <p:spPr>
              <a:xfrm>
                <a:off x="2175453" y="6261851"/>
                <a:ext cx="5314800" cy="84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B1F0E"/>
                  </a:buClr>
                  <a:buSzPts val="2664"/>
                  <a:buFont typeface="Calibri"/>
                  <a:buNone/>
                </a:pPr>
                <a:r>
                  <a:rPr b="1" i="0" lang="en-US" sz="3000" u="none" cap="none" strike="noStrike">
                    <a:solidFill>
                      <a:srgbClr val="3B1F0E"/>
                    </a:solidFill>
                    <a:latin typeface="Garamond"/>
                    <a:ea typeface="Garamond"/>
                    <a:cs typeface="Garamond"/>
                    <a:sym typeface="Garamond"/>
                  </a:rPr>
                  <a:t>Key User Stories</a:t>
                </a:r>
                <a:endParaRPr i="0" sz="3000" u="none" cap="none" strike="noStrike">
                  <a:solidFill>
                    <a:srgbClr val="000000"/>
                  </a:solidFill>
                  <a:latin typeface="Garamond"/>
                  <a:ea typeface="Garamond"/>
                  <a:cs typeface="Garamond"/>
                  <a:sym typeface="Garamond"/>
                </a:endParaRPr>
              </a:p>
            </p:txBody>
          </p:sp>
          <p:sp>
            <p:nvSpPr>
              <p:cNvPr id="116" name="Google Shape;116;g3e0fca77ab1_0_0"/>
              <p:cNvSpPr/>
              <p:nvPr/>
            </p:nvSpPr>
            <p:spPr>
              <a:xfrm>
                <a:off x="1333930" y="7324827"/>
                <a:ext cx="6200400" cy="254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A0E"/>
                  </a:buClr>
                  <a:buSzPts val="2301"/>
                  <a:buFont typeface="Calibri"/>
                  <a:buNone/>
                </a:pPr>
                <a:r>
                  <a:rPr b="1" i="0" lang="en-US" sz="2601" u="none" cap="none" strike="noStrike">
                    <a:solidFill>
                      <a:srgbClr val="2C1A0E"/>
                    </a:solidFill>
                    <a:latin typeface="Garamond"/>
                    <a:ea typeface="Garamond"/>
                    <a:cs typeface="Garamond"/>
                    <a:sym typeface="Garamond"/>
                  </a:rPr>
                  <a:t>New Barista</a:t>
                </a:r>
                <a:r>
                  <a:rPr i="0" lang="en-US" sz="2601" u="none" cap="none" strike="noStrike">
                    <a:solidFill>
                      <a:srgbClr val="2C1A0E"/>
                    </a:solidFill>
                    <a:latin typeface="Garamond"/>
                    <a:ea typeface="Garamond"/>
                    <a:cs typeface="Garamond"/>
                    <a:sym typeface="Garamond"/>
                  </a:rPr>
                  <a:t> — AI guides recommendations without full menu knowledge</a:t>
                </a:r>
                <a:endParaRPr i="0" sz="2601" u="none" cap="none" strike="noStrike">
                  <a:solidFill>
                    <a:srgbClr val="000000"/>
                  </a:solidFill>
                  <a:latin typeface="Garamond"/>
                  <a:ea typeface="Garamond"/>
                  <a:cs typeface="Garamond"/>
                  <a:sym typeface="Garamond"/>
                </a:endParaRPr>
              </a:p>
              <a:p>
                <a:pPr indent="0" lvl="0" marL="0" marR="0" rtl="0" algn="l">
                  <a:lnSpc>
                    <a:spcPct val="100000"/>
                  </a:lnSpc>
                  <a:spcBef>
                    <a:spcPts val="0"/>
                  </a:spcBef>
                  <a:spcAft>
                    <a:spcPts val="0"/>
                  </a:spcAft>
                  <a:buClr>
                    <a:srgbClr val="2C1A0E"/>
                  </a:buClr>
                  <a:buSzPts val="2301"/>
                  <a:buFont typeface="Calibri"/>
                  <a:buNone/>
                </a:pPr>
                <a:r>
                  <a:rPr b="1" i="0" lang="en-US" sz="2601" u="none" cap="none" strike="noStrike">
                    <a:solidFill>
                      <a:srgbClr val="2C1A0E"/>
                    </a:solidFill>
                    <a:latin typeface="Garamond"/>
                    <a:ea typeface="Garamond"/>
                    <a:cs typeface="Garamond"/>
                    <a:sym typeface="Garamond"/>
                  </a:rPr>
                  <a:t>Store Manager</a:t>
                </a:r>
                <a:r>
                  <a:rPr i="0" lang="en-US" sz="2601" u="none" cap="none" strike="noStrike">
                    <a:solidFill>
                      <a:srgbClr val="2C1A0E"/>
                    </a:solidFill>
                    <a:latin typeface="Garamond"/>
                    <a:ea typeface="Garamond"/>
                    <a:cs typeface="Garamond"/>
                    <a:sym typeface="Garamond"/>
                  </a:rPr>
                  <a:t> — Flags inventory priorities; GenAI alerts on anomalies</a:t>
                </a:r>
                <a:endParaRPr i="0" sz="2601" u="none" cap="none" strike="noStrike">
                  <a:solidFill>
                    <a:srgbClr val="000000"/>
                  </a:solidFill>
                  <a:latin typeface="Garamond"/>
                  <a:ea typeface="Garamond"/>
                  <a:cs typeface="Garamond"/>
                  <a:sym typeface="Garamond"/>
                </a:endParaRPr>
              </a:p>
              <a:p>
                <a:pPr indent="0" lvl="0" marL="0" marR="0" rtl="0" algn="l">
                  <a:lnSpc>
                    <a:spcPct val="100000"/>
                  </a:lnSpc>
                  <a:spcBef>
                    <a:spcPts val="0"/>
                  </a:spcBef>
                  <a:spcAft>
                    <a:spcPts val="0"/>
                  </a:spcAft>
                  <a:buClr>
                    <a:srgbClr val="2C1A0E"/>
                  </a:buClr>
                  <a:buSzPts val="2301"/>
                  <a:buFont typeface="Calibri"/>
                  <a:buNone/>
                </a:pPr>
                <a:r>
                  <a:rPr b="1" i="0" lang="en-US" sz="2601" u="none" cap="none" strike="noStrike">
                    <a:solidFill>
                      <a:srgbClr val="2C1A0E"/>
                    </a:solidFill>
                    <a:latin typeface="Garamond"/>
                    <a:ea typeface="Garamond"/>
                    <a:cs typeface="Garamond"/>
                    <a:sym typeface="Garamond"/>
                  </a:rPr>
                  <a:t>Customer</a:t>
                </a:r>
                <a:r>
                  <a:rPr i="0" lang="en-US" sz="2601" u="none" cap="none" strike="noStrike">
                    <a:solidFill>
                      <a:srgbClr val="2C1A0E"/>
                    </a:solidFill>
                    <a:latin typeface="Garamond"/>
                    <a:ea typeface="Garamond"/>
                    <a:cs typeface="Garamond"/>
                    <a:sym typeface="Garamond"/>
                  </a:rPr>
                  <a:t> — Gets personalized drink via quick preference questions</a:t>
                </a:r>
                <a:endParaRPr i="0" sz="2601" u="none" cap="none" strike="noStrike">
                  <a:solidFill>
                    <a:srgbClr val="000000"/>
                  </a:solidFill>
                  <a:latin typeface="Garamond"/>
                  <a:ea typeface="Garamond"/>
                  <a:cs typeface="Garamond"/>
                  <a:sym typeface="Garamond"/>
                </a:endParaRPr>
              </a:p>
            </p:txBody>
          </p:sp>
        </p:grpSp>
        <p:sp>
          <p:nvSpPr>
            <p:cNvPr id="117" name="Google Shape;117;g3e0fca77ab1_0_0"/>
            <p:cNvSpPr/>
            <p:nvPr/>
          </p:nvSpPr>
          <p:spPr>
            <a:xfrm>
              <a:off x="935339" y="5996102"/>
              <a:ext cx="6865200" cy="154800"/>
            </a:xfrm>
            <a:prstGeom prst="rect">
              <a:avLst/>
            </a:prstGeom>
            <a:solidFill>
              <a:srgbClr val="5C3317"/>
            </a:solidFill>
            <a:ln cap="flat" cmpd="sng" w="12700">
              <a:solidFill>
                <a:srgbClr val="5C331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 name="Google Shape;118;g3e0fca77ab1_0_0"/>
          <p:cNvGrpSpPr/>
          <p:nvPr/>
        </p:nvGrpSpPr>
        <p:grpSpPr>
          <a:xfrm>
            <a:off x="1357789" y="1089915"/>
            <a:ext cx="6865500" cy="4207503"/>
            <a:chOff x="935289" y="1325240"/>
            <a:chExt cx="6865500" cy="4207503"/>
          </a:xfrm>
        </p:grpSpPr>
        <p:grpSp>
          <p:nvGrpSpPr>
            <p:cNvPr id="119" name="Google Shape;119;g3e0fca77ab1_0_0"/>
            <p:cNvGrpSpPr/>
            <p:nvPr/>
          </p:nvGrpSpPr>
          <p:grpSpPr>
            <a:xfrm>
              <a:off x="935289" y="1325243"/>
              <a:ext cx="6865500" cy="4207500"/>
              <a:chOff x="935289" y="1325243"/>
              <a:chExt cx="6865500" cy="4207500"/>
            </a:xfrm>
          </p:grpSpPr>
          <p:sp>
            <p:nvSpPr>
              <p:cNvPr id="120" name="Google Shape;120;g3e0fca77ab1_0_0"/>
              <p:cNvSpPr/>
              <p:nvPr/>
            </p:nvSpPr>
            <p:spPr>
              <a:xfrm>
                <a:off x="935289" y="1325243"/>
                <a:ext cx="6865500" cy="4207500"/>
              </a:xfrm>
              <a:prstGeom prst="rect">
                <a:avLst/>
              </a:prstGeom>
              <a:solidFill>
                <a:srgbClr val="F7EBDF"/>
              </a:solidFill>
              <a:ln cap="flat" cmpd="sng" w="30750">
                <a:solidFill>
                  <a:srgbClr val="E8D9C0"/>
                </a:solidFill>
                <a:prstDash val="solid"/>
                <a:round/>
                <a:headEnd len="sm" w="sm" type="none"/>
                <a:tailEnd len="sm" w="sm" type="none"/>
              </a:ln>
              <a:effectLst>
                <a:outerShdw blurRad="246067" rotWithShape="0" algn="bl" dir="8100000" dist="61517">
                  <a:srgbClr val="000000">
                    <a:alpha val="10196"/>
                  </a:srgbClr>
                </a:outerShdw>
              </a:effectLst>
            </p:spPr>
            <p:txBody>
              <a:bodyPr anchorCtr="0" anchor="ctr" bIns="221425" lIns="221425" spcFirstLastPara="1" rIns="221425" wrap="square" tIns="22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1" name="Google Shape;121;g3e0fca77ab1_0_0"/>
              <p:cNvPicPr preferRelativeResize="0"/>
              <p:nvPr/>
            </p:nvPicPr>
            <p:blipFill rotWithShape="1">
              <a:blip r:embed="rId6">
                <a:alphaModFix/>
              </a:blip>
              <a:srcRect b="0" l="0" r="0" t="0"/>
              <a:stretch/>
            </p:blipFill>
            <p:spPr>
              <a:xfrm>
                <a:off x="1333917" y="1723871"/>
                <a:ext cx="708671" cy="708671"/>
              </a:xfrm>
              <a:prstGeom prst="rect">
                <a:avLst/>
              </a:prstGeom>
              <a:noFill/>
              <a:ln>
                <a:noFill/>
              </a:ln>
            </p:spPr>
          </p:pic>
          <p:sp>
            <p:nvSpPr>
              <p:cNvPr id="122" name="Google Shape;122;g3e0fca77ab1_0_0"/>
              <p:cNvSpPr/>
              <p:nvPr/>
            </p:nvSpPr>
            <p:spPr>
              <a:xfrm>
                <a:off x="2175464" y="1590995"/>
                <a:ext cx="5314800" cy="84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B1F0E"/>
                  </a:buClr>
                  <a:buSzPts val="2664"/>
                  <a:buFont typeface="Calibri"/>
                  <a:buNone/>
                </a:pPr>
                <a:r>
                  <a:rPr b="1" i="0" lang="en-US" sz="3000" u="none" cap="none" strike="noStrike">
                    <a:solidFill>
                      <a:srgbClr val="3B1F0E"/>
                    </a:solidFill>
                    <a:latin typeface="Garamond"/>
                    <a:ea typeface="Garamond"/>
                    <a:cs typeface="Garamond"/>
                    <a:sym typeface="Garamond"/>
                  </a:rPr>
                  <a:t>Current Challenge</a:t>
                </a:r>
                <a:endParaRPr i="0" sz="3000" u="none" cap="none" strike="noStrike">
                  <a:solidFill>
                    <a:srgbClr val="000000"/>
                  </a:solidFill>
                  <a:latin typeface="Garamond"/>
                  <a:ea typeface="Garamond"/>
                  <a:cs typeface="Garamond"/>
                  <a:sym typeface="Garamond"/>
                </a:endParaRPr>
              </a:p>
            </p:txBody>
          </p:sp>
          <p:sp>
            <p:nvSpPr>
              <p:cNvPr id="123" name="Google Shape;123;g3e0fca77ab1_0_0"/>
              <p:cNvSpPr/>
              <p:nvPr/>
            </p:nvSpPr>
            <p:spPr>
              <a:xfrm>
                <a:off x="1333917" y="2654005"/>
                <a:ext cx="6200700" cy="254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1A0E"/>
                  </a:buClr>
                  <a:buSzPts val="2301"/>
                  <a:buFont typeface="Calibri"/>
                  <a:buNone/>
                </a:pPr>
                <a:r>
                  <a:rPr i="0" lang="en-US" sz="2601" u="none" cap="none" strike="noStrike">
                    <a:solidFill>
                      <a:srgbClr val="2C1A0E"/>
                    </a:solidFill>
                    <a:latin typeface="Garamond"/>
                    <a:ea typeface="Garamond"/>
                    <a:cs typeface="Garamond"/>
                    <a:sym typeface="Garamond"/>
                  </a:rPr>
                  <a:t>Baristas rely on </a:t>
                </a:r>
                <a:r>
                  <a:rPr b="1" i="0" lang="en-US" sz="2601" u="none" cap="none" strike="noStrike">
                    <a:solidFill>
                      <a:srgbClr val="2C1A0E"/>
                    </a:solidFill>
                    <a:latin typeface="Garamond"/>
                    <a:ea typeface="Garamond"/>
                    <a:cs typeface="Garamond"/>
                    <a:sym typeface="Garamond"/>
                  </a:rPr>
                  <a:t>memory</a:t>
                </a:r>
                <a:r>
                  <a:rPr i="0" lang="en-US" sz="2601" u="none" cap="none" strike="noStrike">
                    <a:solidFill>
                      <a:srgbClr val="2C1A0E"/>
                    </a:solidFill>
                    <a:latin typeface="Garamond"/>
                    <a:ea typeface="Garamond"/>
                    <a:cs typeface="Garamond"/>
                    <a:sym typeface="Garamond"/>
                  </a:rPr>
                  <a:t> to recall the full menu, causing:</a:t>
                </a:r>
                <a:endParaRPr i="0" sz="2601" u="none" cap="none" strike="noStrike">
                  <a:solidFill>
                    <a:srgbClr val="000000"/>
                  </a:solidFill>
                  <a:latin typeface="Garamond"/>
                  <a:ea typeface="Garamond"/>
                  <a:cs typeface="Garamond"/>
                  <a:sym typeface="Garamond"/>
                </a:endParaRPr>
              </a:p>
              <a:p>
                <a:pPr indent="-830475" lvl="0" marL="830475"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Inconsistent recommendations</a:t>
                </a:r>
                <a:endParaRPr i="0" sz="2601" u="none" cap="none" strike="noStrike">
                  <a:solidFill>
                    <a:srgbClr val="000000"/>
                  </a:solidFill>
                  <a:latin typeface="Garamond"/>
                  <a:ea typeface="Garamond"/>
                  <a:cs typeface="Garamond"/>
                  <a:sym typeface="Garamond"/>
                </a:endParaRPr>
              </a:p>
              <a:p>
                <a:pPr indent="-830475" lvl="0" marL="830475"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Slower service during peak hours</a:t>
                </a:r>
                <a:endParaRPr i="0" sz="2601" u="none" cap="none" strike="noStrike">
                  <a:solidFill>
                    <a:srgbClr val="000000"/>
                  </a:solidFill>
                  <a:latin typeface="Garamond"/>
                  <a:ea typeface="Garamond"/>
                  <a:cs typeface="Garamond"/>
                  <a:sym typeface="Garamond"/>
                </a:endParaRPr>
              </a:p>
              <a:p>
                <a:pPr indent="-830475" lvl="0" marL="830475" marR="0" rtl="0" algn="l">
                  <a:lnSpc>
                    <a:spcPct val="100000"/>
                  </a:lnSpc>
                  <a:spcBef>
                    <a:spcPts val="0"/>
                  </a:spcBef>
                  <a:spcAft>
                    <a:spcPts val="0"/>
                  </a:spcAft>
                  <a:buClr>
                    <a:srgbClr val="2C1A0E"/>
                  </a:buClr>
                  <a:buSzPts val="2601"/>
                  <a:buFont typeface="Garamond"/>
                  <a:buChar char="•"/>
                </a:pPr>
                <a:r>
                  <a:rPr i="0" lang="en-US" sz="2601" u="none" cap="none" strike="noStrike">
                    <a:solidFill>
                      <a:srgbClr val="2C1A0E"/>
                    </a:solidFill>
                    <a:latin typeface="Garamond"/>
                    <a:ea typeface="Garamond"/>
                    <a:cs typeface="Garamond"/>
                    <a:sym typeface="Garamond"/>
                  </a:rPr>
                  <a:t>No real-time inventory awareness</a:t>
                </a:r>
                <a:endParaRPr i="0" sz="2601" u="none" cap="none" strike="noStrike">
                  <a:solidFill>
                    <a:srgbClr val="000000"/>
                  </a:solidFill>
                  <a:latin typeface="Garamond"/>
                  <a:ea typeface="Garamond"/>
                  <a:cs typeface="Garamond"/>
                  <a:sym typeface="Garamond"/>
                </a:endParaRPr>
              </a:p>
            </p:txBody>
          </p:sp>
        </p:grpSp>
        <p:sp>
          <p:nvSpPr>
            <p:cNvPr id="124" name="Google Shape;124;g3e0fca77ab1_0_0"/>
            <p:cNvSpPr/>
            <p:nvPr/>
          </p:nvSpPr>
          <p:spPr>
            <a:xfrm>
              <a:off x="935314" y="1325240"/>
              <a:ext cx="6865200" cy="154800"/>
            </a:xfrm>
            <a:prstGeom prst="rect">
              <a:avLst/>
            </a:prstGeom>
            <a:solidFill>
              <a:srgbClr val="7B4A1E"/>
            </a:solidFill>
            <a:ln cap="flat" cmpd="sng" w="12700">
              <a:solidFill>
                <a:srgbClr val="7B4A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128" name="Shape 128"/>
        <p:cNvGrpSpPr/>
        <p:nvPr/>
      </p:nvGrpSpPr>
      <p:grpSpPr>
        <a:xfrm>
          <a:off x="0" y="0"/>
          <a:ext cx="0" cy="0"/>
          <a:chOff x="0" y="0"/>
          <a:chExt cx="0" cy="0"/>
        </a:xfrm>
      </p:grpSpPr>
      <p:sp>
        <p:nvSpPr>
          <p:cNvPr id="129" name="Google Shape;129;g3e909bb5d74_0_8"/>
          <p:cNvSpPr txBox="1"/>
          <p:nvPr/>
        </p:nvSpPr>
        <p:spPr>
          <a:xfrm>
            <a:off x="92425" y="0"/>
            <a:ext cx="91272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0"/>
              <a:buFont typeface="Arial"/>
              <a:buNone/>
            </a:pPr>
            <a:r>
              <a:rPr b="1" i="0" lang="en-US" sz="5000" u="none" cap="none" strike="noStrike">
                <a:solidFill>
                  <a:srgbClr val="F5C784"/>
                </a:solidFill>
                <a:latin typeface="Garamond"/>
                <a:ea typeface="Garamond"/>
                <a:cs typeface="Garamond"/>
                <a:sym typeface="Garamond"/>
              </a:rPr>
              <a:t>Workflow (N</a:t>
            </a:r>
            <a:r>
              <a:rPr b="1" lang="en-US" sz="5000">
                <a:solidFill>
                  <a:srgbClr val="F5C784"/>
                </a:solidFill>
                <a:latin typeface="Garamond"/>
                <a:ea typeface="Garamond"/>
                <a:cs typeface="Garamond"/>
                <a:sym typeface="Garamond"/>
              </a:rPr>
              <a:t>on GenAI)</a:t>
            </a:r>
            <a:endParaRPr b="0" i="0" sz="2400" u="none" cap="none" strike="noStrike">
              <a:solidFill>
                <a:schemeClr val="dk1"/>
              </a:solidFill>
              <a:latin typeface="Arial"/>
              <a:ea typeface="Arial"/>
              <a:cs typeface="Arial"/>
              <a:sym typeface="Arial"/>
            </a:endParaRPr>
          </a:p>
        </p:txBody>
      </p:sp>
      <p:pic>
        <p:nvPicPr>
          <p:cNvPr id="130" name="Google Shape;130;g3e909bb5d74_0_8"/>
          <p:cNvPicPr preferRelativeResize="0"/>
          <p:nvPr/>
        </p:nvPicPr>
        <p:blipFill>
          <a:blip r:embed="rId3">
            <a:alphaModFix/>
          </a:blip>
          <a:stretch>
            <a:fillRect/>
          </a:stretch>
        </p:blipFill>
        <p:spPr>
          <a:xfrm>
            <a:off x="152400" y="1477250"/>
            <a:ext cx="17983201" cy="8640366"/>
          </a:xfrm>
          <a:prstGeom prst="rect">
            <a:avLst/>
          </a:prstGeom>
          <a:noFill/>
          <a:ln>
            <a:noFill/>
          </a:ln>
        </p:spPr>
      </p:pic>
      <p:pic>
        <p:nvPicPr>
          <p:cNvPr id="131" name="Google Shape;131;g3e909bb5d74_0_8"/>
          <p:cNvPicPr preferRelativeResize="0"/>
          <p:nvPr/>
        </p:nvPicPr>
        <p:blipFill>
          <a:blip r:embed="rId4">
            <a:alphaModFix/>
          </a:blip>
          <a:stretch>
            <a:fillRect/>
          </a:stretch>
        </p:blipFill>
        <p:spPr>
          <a:xfrm>
            <a:off x="12434825" y="200425"/>
            <a:ext cx="5623404" cy="11834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135" name="Shape 135"/>
        <p:cNvGrpSpPr/>
        <p:nvPr/>
      </p:nvGrpSpPr>
      <p:grpSpPr>
        <a:xfrm>
          <a:off x="0" y="0"/>
          <a:ext cx="0" cy="0"/>
          <a:chOff x="0" y="0"/>
          <a:chExt cx="0" cy="0"/>
        </a:xfrm>
      </p:grpSpPr>
      <p:sp>
        <p:nvSpPr>
          <p:cNvPr id="136" name="Google Shape;136;g3e820037912_0_56"/>
          <p:cNvSpPr txBox="1"/>
          <p:nvPr/>
        </p:nvSpPr>
        <p:spPr>
          <a:xfrm>
            <a:off x="169650" y="129875"/>
            <a:ext cx="91272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0"/>
              <a:buFont typeface="Arial"/>
              <a:buNone/>
            </a:pPr>
            <a:r>
              <a:rPr b="1" i="0" lang="en-US" sz="5000" u="none" cap="none" strike="noStrike">
                <a:solidFill>
                  <a:srgbClr val="F5C784"/>
                </a:solidFill>
                <a:latin typeface="Garamond"/>
                <a:ea typeface="Garamond"/>
                <a:cs typeface="Garamond"/>
                <a:sym typeface="Garamond"/>
              </a:rPr>
              <a:t>Workflow (</a:t>
            </a:r>
            <a:r>
              <a:rPr b="1" lang="en-US" sz="5000">
                <a:solidFill>
                  <a:srgbClr val="F5C784"/>
                </a:solidFill>
                <a:latin typeface="Garamond"/>
                <a:ea typeface="Garamond"/>
                <a:cs typeface="Garamond"/>
                <a:sym typeface="Garamond"/>
              </a:rPr>
              <a:t>GenAI)</a:t>
            </a:r>
            <a:endParaRPr b="0" i="0" sz="2400" u="none" cap="none" strike="noStrike">
              <a:solidFill>
                <a:schemeClr val="dk1"/>
              </a:solidFill>
              <a:latin typeface="Arial"/>
              <a:ea typeface="Arial"/>
              <a:cs typeface="Arial"/>
              <a:sym typeface="Arial"/>
            </a:endParaRPr>
          </a:p>
        </p:txBody>
      </p:sp>
      <p:pic>
        <p:nvPicPr>
          <p:cNvPr id="137" name="Google Shape;137;g3e820037912_0_56"/>
          <p:cNvPicPr preferRelativeResize="0"/>
          <p:nvPr/>
        </p:nvPicPr>
        <p:blipFill>
          <a:blip r:embed="rId3">
            <a:alphaModFix/>
          </a:blip>
          <a:stretch>
            <a:fillRect/>
          </a:stretch>
        </p:blipFill>
        <p:spPr>
          <a:xfrm>
            <a:off x="152400" y="1236575"/>
            <a:ext cx="17983201" cy="833303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142" name="Shape 142"/>
        <p:cNvGrpSpPr/>
        <p:nvPr/>
      </p:nvGrpSpPr>
      <p:grpSpPr>
        <a:xfrm>
          <a:off x="0" y="0"/>
          <a:ext cx="0" cy="0"/>
          <a:chOff x="0" y="0"/>
          <a:chExt cx="0" cy="0"/>
        </a:xfrm>
      </p:grpSpPr>
      <p:sp>
        <p:nvSpPr>
          <p:cNvPr id="143" name="Google Shape;143;g3e868c9b429_0_31"/>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144" name="Google Shape;144;g3e868c9b429_0_31"/>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145" name="Google Shape;145;g3e868c9b429_0_31"/>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Under the Hood</a:t>
            </a:r>
            <a:endParaRPr sz="4700">
              <a:solidFill>
                <a:schemeClr val="dk1"/>
              </a:solidFill>
              <a:latin typeface="Calibri"/>
              <a:ea typeface="Calibri"/>
              <a:cs typeface="Calibri"/>
              <a:sym typeface="Calibri"/>
            </a:endParaRPr>
          </a:p>
        </p:txBody>
      </p:sp>
      <p:sp>
        <p:nvSpPr>
          <p:cNvPr id="146" name="Google Shape;146;g3e868c9b429_0_31"/>
          <p:cNvSpPr/>
          <p:nvPr/>
        </p:nvSpPr>
        <p:spPr>
          <a:xfrm>
            <a:off x="1810512" y="1536192"/>
            <a:ext cx="157734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B49A"/>
              </a:buClr>
              <a:buSzPts val="2000"/>
              <a:buFont typeface="Garamond"/>
              <a:buNone/>
            </a:pPr>
            <a:r>
              <a:rPr i="1" lang="en-US" sz="2500">
                <a:solidFill>
                  <a:srgbClr val="C6B49A"/>
                </a:solidFill>
                <a:latin typeface="Garamond"/>
                <a:ea typeface="Garamond"/>
                <a:cs typeface="Garamond"/>
                <a:sym typeface="Garamond"/>
              </a:rPr>
              <a:t>The pieces that feed the workflow — all rule-based, all predictable</a:t>
            </a:r>
            <a:endParaRPr sz="2500">
              <a:solidFill>
                <a:schemeClr val="dk1"/>
              </a:solidFill>
              <a:latin typeface="Calibri"/>
              <a:ea typeface="Calibri"/>
              <a:cs typeface="Calibri"/>
              <a:sym typeface="Calibri"/>
            </a:endParaRPr>
          </a:p>
        </p:txBody>
      </p:sp>
      <p:sp>
        <p:nvSpPr>
          <p:cNvPr id="147" name="Google Shape;147;g3e868c9b429_0_31"/>
          <p:cNvSpPr/>
          <p:nvPr/>
        </p:nvSpPr>
        <p:spPr>
          <a:xfrm>
            <a:off x="685800" y="2276856"/>
            <a:ext cx="8119800" cy="29904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48" name="Google Shape;148;g3e868c9b429_0_31"/>
          <p:cNvSpPr/>
          <p:nvPr/>
        </p:nvSpPr>
        <p:spPr>
          <a:xfrm>
            <a:off x="685800" y="2276856"/>
            <a:ext cx="81198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49" name="Google Shape;149;g3e868c9b429_0_31"/>
          <p:cNvSpPr/>
          <p:nvPr/>
        </p:nvSpPr>
        <p:spPr>
          <a:xfrm>
            <a:off x="987552" y="2633472"/>
            <a:ext cx="603600" cy="6036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150" name="Google Shape;150;g3e868c9b429_0_31"/>
          <p:cNvPicPr preferRelativeResize="0"/>
          <p:nvPr/>
        </p:nvPicPr>
        <p:blipFill rotWithShape="1">
          <a:blip r:embed="rId4">
            <a:alphaModFix/>
          </a:blip>
          <a:srcRect b="0" l="0" r="0" t="0"/>
          <a:stretch/>
        </p:blipFill>
        <p:spPr>
          <a:xfrm>
            <a:off x="1132393" y="2778314"/>
            <a:ext cx="313822" cy="313822"/>
          </a:xfrm>
          <a:prstGeom prst="rect">
            <a:avLst/>
          </a:prstGeom>
          <a:noFill/>
          <a:ln>
            <a:noFill/>
          </a:ln>
        </p:spPr>
      </p:pic>
      <p:sp>
        <p:nvSpPr>
          <p:cNvPr id="151" name="Google Shape;151;g3e868c9b429_0_31"/>
          <p:cNvSpPr/>
          <p:nvPr/>
        </p:nvSpPr>
        <p:spPr>
          <a:xfrm>
            <a:off x="1769364" y="2564892"/>
            <a:ext cx="72966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100"/>
              <a:buFont typeface="Garamond"/>
              <a:buNone/>
            </a:pPr>
            <a:r>
              <a:rPr b="1" lang="en-US" sz="2100">
                <a:solidFill>
                  <a:srgbClr val="2C1A0E"/>
                </a:solidFill>
                <a:latin typeface="Garamond"/>
                <a:ea typeface="Garamond"/>
                <a:cs typeface="Garamond"/>
                <a:sym typeface="Garamond"/>
              </a:rPr>
              <a:t>Data </a:t>
            </a:r>
            <a:r>
              <a:rPr b="1" lang="en-US" sz="2100">
                <a:solidFill>
                  <a:srgbClr val="2C1A0E"/>
                </a:solidFill>
                <a:latin typeface="Garamond"/>
                <a:ea typeface="Garamond"/>
                <a:cs typeface="Garamond"/>
                <a:sym typeface="Garamond"/>
              </a:rPr>
              <a:t>— except menu data nine simulated tables</a:t>
            </a:r>
            <a:endParaRPr sz="2100">
              <a:solidFill>
                <a:schemeClr val="dk1"/>
              </a:solidFill>
              <a:latin typeface="Calibri"/>
              <a:ea typeface="Calibri"/>
              <a:cs typeface="Calibri"/>
              <a:sym typeface="Calibri"/>
            </a:endParaRPr>
          </a:p>
        </p:txBody>
      </p:sp>
      <p:sp>
        <p:nvSpPr>
          <p:cNvPr id="152" name="Google Shape;152;g3e868c9b429_0_31"/>
          <p:cNvSpPr/>
          <p:nvPr/>
        </p:nvSpPr>
        <p:spPr>
          <a:xfrm>
            <a:off x="1042416" y="3456432"/>
            <a:ext cx="7434000" cy="1782900"/>
          </a:xfrm>
          <a:prstGeom prst="rect">
            <a:avLst/>
          </a:prstGeom>
          <a:noFill/>
          <a:ln>
            <a:noFill/>
          </a:ln>
        </p:spPr>
        <p:txBody>
          <a:bodyPr anchorCtr="0" anchor="t" bIns="0" lIns="0" spcFirstLastPara="1" rIns="0" wrap="square" tIns="0">
            <a:noAutofit/>
          </a:bodyPr>
          <a:lstStyle/>
          <a:p>
            <a:pPr indent="-292100" lvl="0" marL="254000" marR="0" rtl="0" algn="l">
              <a:spcBef>
                <a:spcPts val="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Menu: nutrition, caffeine, allergens, customisations</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Inventory: daily stock at every store</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Order history: about 10,000 hourly counts — the rush signal</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Plus staffing, forecasts, promotions and name look-ups</a:t>
            </a:r>
            <a:endParaRPr sz="2200">
              <a:solidFill>
                <a:schemeClr val="dk1"/>
              </a:solidFill>
              <a:latin typeface="Garamond"/>
              <a:ea typeface="Garamond"/>
              <a:cs typeface="Garamond"/>
              <a:sym typeface="Garamond"/>
            </a:endParaRPr>
          </a:p>
        </p:txBody>
      </p:sp>
      <p:sp>
        <p:nvSpPr>
          <p:cNvPr id="153" name="Google Shape;153;g3e868c9b429_0_31"/>
          <p:cNvSpPr/>
          <p:nvPr/>
        </p:nvSpPr>
        <p:spPr>
          <a:xfrm>
            <a:off x="9176004" y="2276856"/>
            <a:ext cx="8119800" cy="29904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54" name="Google Shape;154;g3e868c9b429_0_31"/>
          <p:cNvSpPr/>
          <p:nvPr/>
        </p:nvSpPr>
        <p:spPr>
          <a:xfrm>
            <a:off x="9176004" y="2276856"/>
            <a:ext cx="8119800" cy="150900"/>
          </a:xfrm>
          <a:prstGeom prst="rect">
            <a:avLst/>
          </a:prstGeom>
          <a:solidFill>
            <a:srgbClr val="7B4A1E"/>
          </a:solidFill>
          <a:ln cap="flat" cmpd="sng" w="19050">
            <a:solidFill>
              <a:srgbClr val="7B4A1E"/>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55" name="Google Shape;155;g3e868c9b429_0_31"/>
          <p:cNvSpPr/>
          <p:nvPr/>
        </p:nvSpPr>
        <p:spPr>
          <a:xfrm>
            <a:off x="9477756" y="2633472"/>
            <a:ext cx="603600" cy="6036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156" name="Google Shape;156;g3e868c9b429_0_31"/>
          <p:cNvPicPr preferRelativeResize="0"/>
          <p:nvPr/>
        </p:nvPicPr>
        <p:blipFill rotWithShape="1">
          <a:blip r:embed="rId3">
            <a:alphaModFix/>
          </a:blip>
          <a:srcRect b="0" l="0" r="0" t="0"/>
          <a:stretch/>
        </p:blipFill>
        <p:spPr>
          <a:xfrm>
            <a:off x="9622598" y="2778314"/>
            <a:ext cx="313822" cy="313822"/>
          </a:xfrm>
          <a:prstGeom prst="rect">
            <a:avLst/>
          </a:prstGeom>
          <a:noFill/>
          <a:ln>
            <a:noFill/>
          </a:ln>
        </p:spPr>
      </p:pic>
      <p:sp>
        <p:nvSpPr>
          <p:cNvPr id="157" name="Google Shape;157;g3e868c9b429_0_31"/>
          <p:cNvSpPr/>
          <p:nvPr/>
        </p:nvSpPr>
        <p:spPr>
          <a:xfrm>
            <a:off x="10259568" y="2564892"/>
            <a:ext cx="72966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100"/>
              <a:buFont typeface="Garamond"/>
              <a:buNone/>
            </a:pPr>
            <a:r>
              <a:rPr b="1" lang="en-US" sz="2100">
                <a:solidFill>
                  <a:srgbClr val="2C1A0E"/>
                </a:solidFill>
                <a:latin typeface="Garamond"/>
                <a:ea typeface="Garamond"/>
                <a:cs typeface="Garamond"/>
                <a:sym typeface="Garamond"/>
              </a:rPr>
              <a:t>Four rule-based calculators - Automations</a:t>
            </a:r>
            <a:endParaRPr sz="2100">
              <a:solidFill>
                <a:schemeClr val="dk1"/>
              </a:solidFill>
              <a:latin typeface="Calibri"/>
              <a:ea typeface="Calibri"/>
              <a:cs typeface="Calibri"/>
              <a:sym typeface="Calibri"/>
            </a:endParaRPr>
          </a:p>
        </p:txBody>
      </p:sp>
      <p:sp>
        <p:nvSpPr>
          <p:cNvPr id="158" name="Google Shape;158;g3e868c9b429_0_31"/>
          <p:cNvSpPr/>
          <p:nvPr/>
        </p:nvSpPr>
        <p:spPr>
          <a:xfrm>
            <a:off x="9532620" y="3456432"/>
            <a:ext cx="7434000" cy="1782900"/>
          </a:xfrm>
          <a:prstGeom prst="rect">
            <a:avLst/>
          </a:prstGeom>
          <a:noFill/>
          <a:ln>
            <a:noFill/>
          </a:ln>
        </p:spPr>
        <p:txBody>
          <a:bodyPr anchorCtr="0" anchor="t" bIns="0" lIns="0" spcFirstLastPara="1" rIns="0" wrap="square" tIns="0">
            <a:noAutofit/>
          </a:bodyPr>
          <a:lstStyle/>
          <a:p>
            <a:pPr indent="-292100" lvl="0" marL="254000" marR="0" rtl="0" algn="l">
              <a:spcBef>
                <a:spcPts val="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Is it a rush right now?</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What’s running low or out of stock?</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Are there enough people on shift?</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A morning briefing that pulls it together</a:t>
            </a:r>
            <a:endParaRPr sz="2200">
              <a:solidFill>
                <a:schemeClr val="dk1"/>
              </a:solidFill>
              <a:latin typeface="Garamond"/>
              <a:ea typeface="Garamond"/>
              <a:cs typeface="Garamond"/>
              <a:sym typeface="Garamond"/>
            </a:endParaRPr>
          </a:p>
        </p:txBody>
      </p:sp>
      <p:sp>
        <p:nvSpPr>
          <p:cNvPr id="159" name="Google Shape;159;g3e868c9b429_0_31"/>
          <p:cNvSpPr/>
          <p:nvPr/>
        </p:nvSpPr>
        <p:spPr>
          <a:xfrm>
            <a:off x="685800" y="5596128"/>
            <a:ext cx="8119800" cy="29904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60" name="Google Shape;160;g3e868c9b429_0_31"/>
          <p:cNvSpPr/>
          <p:nvPr/>
        </p:nvSpPr>
        <p:spPr>
          <a:xfrm>
            <a:off x="685800" y="5596128"/>
            <a:ext cx="8119800" cy="150900"/>
          </a:xfrm>
          <a:prstGeom prst="rect">
            <a:avLst/>
          </a:prstGeom>
          <a:solidFill>
            <a:srgbClr val="7B4A1E"/>
          </a:solidFill>
          <a:ln cap="flat" cmpd="sng" w="19050">
            <a:solidFill>
              <a:srgbClr val="7B4A1E"/>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61" name="Google Shape;161;g3e868c9b429_0_31"/>
          <p:cNvSpPr/>
          <p:nvPr/>
        </p:nvSpPr>
        <p:spPr>
          <a:xfrm>
            <a:off x="987552" y="5952744"/>
            <a:ext cx="603600" cy="6036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162" name="Google Shape;162;g3e868c9b429_0_31"/>
          <p:cNvPicPr preferRelativeResize="0"/>
          <p:nvPr/>
        </p:nvPicPr>
        <p:blipFill rotWithShape="1">
          <a:blip r:embed="rId5">
            <a:alphaModFix/>
          </a:blip>
          <a:srcRect b="0" l="0" r="0" t="0"/>
          <a:stretch/>
        </p:blipFill>
        <p:spPr>
          <a:xfrm>
            <a:off x="1132393" y="6097586"/>
            <a:ext cx="313822" cy="313822"/>
          </a:xfrm>
          <a:prstGeom prst="rect">
            <a:avLst/>
          </a:prstGeom>
          <a:noFill/>
          <a:ln>
            <a:noFill/>
          </a:ln>
        </p:spPr>
      </p:pic>
      <p:sp>
        <p:nvSpPr>
          <p:cNvPr id="163" name="Google Shape;163;g3e868c9b429_0_31"/>
          <p:cNvSpPr/>
          <p:nvPr/>
        </p:nvSpPr>
        <p:spPr>
          <a:xfrm>
            <a:off x="1769364" y="5884164"/>
            <a:ext cx="72966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100"/>
              <a:buFont typeface="Garamond"/>
              <a:buNone/>
            </a:pPr>
            <a:r>
              <a:rPr b="1" lang="en-US" sz="2100">
                <a:solidFill>
                  <a:srgbClr val="2C1A0E"/>
                </a:solidFill>
                <a:latin typeface="Garamond"/>
                <a:ea typeface="Garamond"/>
                <a:cs typeface="Garamond"/>
                <a:sym typeface="Garamond"/>
              </a:rPr>
              <a:t>Six</a:t>
            </a:r>
            <a:r>
              <a:rPr b="1" lang="en-US" sz="2100">
                <a:solidFill>
                  <a:srgbClr val="2C1A0E"/>
                </a:solidFill>
                <a:latin typeface="Garamond"/>
                <a:ea typeface="Garamond"/>
                <a:cs typeface="Garamond"/>
                <a:sym typeface="Garamond"/>
              </a:rPr>
              <a:t> data tools - MCPs</a:t>
            </a:r>
            <a:endParaRPr sz="2100">
              <a:solidFill>
                <a:schemeClr val="dk1"/>
              </a:solidFill>
              <a:latin typeface="Calibri"/>
              <a:ea typeface="Calibri"/>
              <a:cs typeface="Calibri"/>
              <a:sym typeface="Calibri"/>
            </a:endParaRPr>
          </a:p>
        </p:txBody>
      </p:sp>
      <p:sp>
        <p:nvSpPr>
          <p:cNvPr id="164" name="Google Shape;164;g3e868c9b429_0_31"/>
          <p:cNvSpPr/>
          <p:nvPr/>
        </p:nvSpPr>
        <p:spPr>
          <a:xfrm>
            <a:off x="1042416" y="6775704"/>
            <a:ext cx="7434000" cy="1782900"/>
          </a:xfrm>
          <a:prstGeom prst="rect">
            <a:avLst/>
          </a:prstGeom>
          <a:noFill/>
          <a:ln>
            <a:noFill/>
          </a:ln>
        </p:spPr>
        <p:txBody>
          <a:bodyPr anchorCtr="0" anchor="t" bIns="0" lIns="0" spcFirstLastPara="1" rIns="0" wrap="square" tIns="0">
            <a:noAutofit/>
          </a:bodyPr>
          <a:lstStyle/>
          <a:p>
            <a:pPr indent="-292100" lvl="0" marL="254000" marR="0" rtl="0" algn="l">
              <a:spcBef>
                <a:spcPts val="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Look up a menu item</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Suggest drinks by taste and stock</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Check whether ingredients are in stock</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Spot a rush, check staffing, and build a full order</a:t>
            </a:r>
            <a:endParaRPr sz="2200">
              <a:solidFill>
                <a:schemeClr val="dk1"/>
              </a:solidFill>
              <a:latin typeface="Garamond"/>
              <a:ea typeface="Garamond"/>
              <a:cs typeface="Garamond"/>
              <a:sym typeface="Garamond"/>
            </a:endParaRPr>
          </a:p>
        </p:txBody>
      </p:sp>
      <p:sp>
        <p:nvSpPr>
          <p:cNvPr id="165" name="Google Shape;165;g3e868c9b429_0_31"/>
          <p:cNvSpPr/>
          <p:nvPr/>
        </p:nvSpPr>
        <p:spPr>
          <a:xfrm>
            <a:off x="9176004" y="5596128"/>
            <a:ext cx="8119800" cy="29904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66" name="Google Shape;166;g3e868c9b429_0_31"/>
          <p:cNvSpPr/>
          <p:nvPr/>
        </p:nvSpPr>
        <p:spPr>
          <a:xfrm>
            <a:off x="9176004" y="5596128"/>
            <a:ext cx="81198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167" name="Google Shape;167;g3e868c9b429_0_31"/>
          <p:cNvSpPr/>
          <p:nvPr/>
        </p:nvSpPr>
        <p:spPr>
          <a:xfrm>
            <a:off x="9477756" y="5952744"/>
            <a:ext cx="603600" cy="6036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168" name="Google Shape;168;g3e868c9b429_0_31"/>
          <p:cNvPicPr preferRelativeResize="0"/>
          <p:nvPr/>
        </p:nvPicPr>
        <p:blipFill rotWithShape="1">
          <a:blip r:embed="rId6">
            <a:alphaModFix/>
          </a:blip>
          <a:srcRect b="0" l="0" r="0" t="0"/>
          <a:stretch/>
        </p:blipFill>
        <p:spPr>
          <a:xfrm>
            <a:off x="9622598" y="6097586"/>
            <a:ext cx="313822" cy="313822"/>
          </a:xfrm>
          <a:prstGeom prst="rect">
            <a:avLst/>
          </a:prstGeom>
          <a:noFill/>
          <a:ln>
            <a:noFill/>
          </a:ln>
        </p:spPr>
      </p:pic>
      <p:sp>
        <p:nvSpPr>
          <p:cNvPr id="169" name="Google Shape;169;g3e868c9b429_0_31"/>
          <p:cNvSpPr/>
          <p:nvPr/>
        </p:nvSpPr>
        <p:spPr>
          <a:xfrm>
            <a:off x="10259568" y="5884164"/>
            <a:ext cx="72966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100"/>
              <a:buFont typeface="Garamond"/>
              <a:buNone/>
            </a:pPr>
            <a:r>
              <a:rPr b="1" lang="en-US" sz="2100">
                <a:solidFill>
                  <a:srgbClr val="2C1A0E"/>
                </a:solidFill>
                <a:latin typeface="Garamond"/>
                <a:ea typeface="Garamond"/>
                <a:cs typeface="Garamond"/>
                <a:sym typeface="Garamond"/>
              </a:rPr>
              <a:t>A library of 12 guidelines - RAG</a:t>
            </a:r>
            <a:endParaRPr sz="2100">
              <a:solidFill>
                <a:schemeClr val="dk1"/>
              </a:solidFill>
              <a:latin typeface="Calibri"/>
              <a:ea typeface="Calibri"/>
              <a:cs typeface="Calibri"/>
              <a:sym typeface="Calibri"/>
            </a:endParaRPr>
          </a:p>
        </p:txBody>
      </p:sp>
      <p:sp>
        <p:nvSpPr>
          <p:cNvPr id="170" name="Google Shape;170;g3e868c9b429_0_31"/>
          <p:cNvSpPr/>
          <p:nvPr/>
        </p:nvSpPr>
        <p:spPr>
          <a:xfrm>
            <a:off x="9532620" y="6775704"/>
            <a:ext cx="7434000" cy="1782900"/>
          </a:xfrm>
          <a:prstGeom prst="rect">
            <a:avLst/>
          </a:prstGeom>
          <a:noFill/>
          <a:ln>
            <a:noFill/>
          </a:ln>
        </p:spPr>
        <p:txBody>
          <a:bodyPr anchorCtr="0" anchor="t" bIns="0" lIns="0" spcFirstLastPara="1" rIns="0" wrap="square" tIns="0">
            <a:noAutofit/>
          </a:bodyPr>
          <a:lstStyle/>
          <a:p>
            <a:pPr indent="-292100" lvl="0" marL="254000" marR="0" rtl="0" algn="l">
              <a:spcBef>
                <a:spcPts val="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Recommendation and allergen guidance</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Rush-hour playbook and pre-shift checklist</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Substitutions, customisation and quality rules</a:t>
            </a:r>
            <a:endParaRPr sz="2200">
              <a:solidFill>
                <a:schemeClr val="dk1"/>
              </a:solidFill>
              <a:latin typeface="Garamond"/>
              <a:ea typeface="Garamond"/>
              <a:cs typeface="Garamond"/>
              <a:sym typeface="Garamond"/>
            </a:endParaRPr>
          </a:p>
          <a:p>
            <a:pPr indent="-292100" lvl="0" marL="254000" marR="0" rtl="0" algn="l">
              <a:spcBef>
                <a:spcPts val="600"/>
              </a:spcBef>
              <a:spcAft>
                <a:spcPts val="0"/>
              </a:spcAft>
              <a:buClr>
                <a:srgbClr val="5E4A35"/>
              </a:buClr>
              <a:buSzPts val="2200"/>
              <a:buFont typeface="Garamond"/>
              <a:buChar char="•"/>
            </a:pPr>
            <a:r>
              <a:rPr lang="en-US" sz="2200">
                <a:solidFill>
                  <a:srgbClr val="5E4A35"/>
                </a:solidFill>
                <a:latin typeface="Garamond"/>
                <a:ea typeface="Garamond"/>
                <a:cs typeface="Garamond"/>
                <a:sym typeface="Garamond"/>
              </a:rPr>
              <a:t>Same question → same guidance, every time</a:t>
            </a:r>
            <a:endParaRPr sz="2200">
              <a:solidFill>
                <a:schemeClr val="dk1"/>
              </a:solidFill>
              <a:latin typeface="Garamond"/>
              <a:ea typeface="Garamond"/>
              <a:cs typeface="Garamond"/>
              <a:sym typeface="Garamond"/>
            </a:endParaRPr>
          </a:p>
        </p:txBody>
      </p:sp>
      <p:sp>
        <p:nvSpPr>
          <p:cNvPr id="171" name="Google Shape;171;g3e868c9b429_0_31"/>
          <p:cNvSpPr/>
          <p:nvPr/>
        </p:nvSpPr>
        <p:spPr>
          <a:xfrm>
            <a:off x="685800" y="9299448"/>
            <a:ext cx="16911900" cy="41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B49A"/>
              </a:buClr>
              <a:buSzPts val="1700"/>
              <a:buFont typeface="Calibri"/>
              <a:buNone/>
            </a:pPr>
            <a:r>
              <a:rPr i="1" lang="en-US" sz="2200">
                <a:solidFill>
                  <a:srgbClr val="C6B49A"/>
                </a:solidFill>
                <a:latin typeface="Garamond"/>
                <a:ea typeface="Garamond"/>
                <a:cs typeface="Garamond"/>
                <a:sym typeface="Garamond"/>
              </a:rPr>
              <a:t>All data is simulated for class use — no real coffee-chain information is involved other than menu data</a:t>
            </a:r>
            <a:endParaRPr sz="2200">
              <a:solidFill>
                <a:schemeClr val="dk1"/>
              </a:solidFill>
              <a:latin typeface="Garamond"/>
              <a:ea typeface="Garamond"/>
              <a:cs typeface="Garamond"/>
              <a:sym typeface="Garamond"/>
            </a:endParaRPr>
          </a:p>
        </p:txBody>
      </p:sp>
      <p:sp>
        <p:nvSpPr>
          <p:cNvPr id="172" name="Google Shape;172;g3e868c9b429_0_31"/>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173" name="Google Shape;173;g3e868c9b429_0_31"/>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178" name="Shape 178"/>
        <p:cNvGrpSpPr/>
        <p:nvPr/>
      </p:nvGrpSpPr>
      <p:grpSpPr>
        <a:xfrm>
          <a:off x="0" y="0"/>
          <a:ext cx="0" cy="0"/>
          <a:chOff x="0" y="0"/>
          <a:chExt cx="0" cy="0"/>
        </a:xfrm>
      </p:grpSpPr>
      <p:sp>
        <p:nvSpPr>
          <p:cNvPr id="179" name="Google Shape;179;g3e868c9b429_0_0"/>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180" name="Google Shape;180;g3e868c9b429_0_0"/>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181" name="Google Shape;181;g3e868c9b429_0_0"/>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The Five AI Helpers (Skills)</a:t>
            </a:r>
            <a:endParaRPr sz="4700">
              <a:solidFill>
                <a:schemeClr val="dk1"/>
              </a:solidFill>
              <a:latin typeface="Calibri"/>
              <a:ea typeface="Calibri"/>
              <a:cs typeface="Calibri"/>
              <a:sym typeface="Calibri"/>
            </a:endParaRPr>
          </a:p>
        </p:txBody>
      </p:sp>
      <p:sp>
        <p:nvSpPr>
          <p:cNvPr id="182" name="Google Shape;182;g3e868c9b429_0_0"/>
          <p:cNvSpPr/>
          <p:nvPr/>
        </p:nvSpPr>
        <p:spPr>
          <a:xfrm>
            <a:off x="1810512" y="1536192"/>
            <a:ext cx="157734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B49A"/>
              </a:buClr>
              <a:buSzPts val="2000"/>
              <a:buFont typeface="Garamond"/>
              <a:buNone/>
            </a:pPr>
            <a:r>
              <a:rPr i="1" lang="en-US" sz="2500">
                <a:solidFill>
                  <a:srgbClr val="C6B49A"/>
                </a:solidFill>
                <a:latin typeface="Garamond"/>
                <a:ea typeface="Garamond"/>
                <a:cs typeface="Garamond"/>
                <a:sym typeface="Garamond"/>
              </a:rPr>
              <a:t>AI handles the wording — each helper has a clear brief and a moment to step in</a:t>
            </a:r>
            <a:endParaRPr sz="2500">
              <a:solidFill>
                <a:schemeClr val="dk1"/>
              </a:solidFill>
              <a:latin typeface="Calibri"/>
              <a:ea typeface="Calibri"/>
              <a:cs typeface="Calibri"/>
              <a:sym typeface="Calibri"/>
            </a:endParaRPr>
          </a:p>
        </p:txBody>
      </p:sp>
      <p:sp>
        <p:nvSpPr>
          <p:cNvPr id="183" name="Google Shape;183;g3e868c9b429_0_0"/>
          <p:cNvSpPr/>
          <p:nvPr/>
        </p:nvSpPr>
        <p:spPr>
          <a:xfrm>
            <a:off x="685800" y="2331720"/>
            <a:ext cx="164700" cy="1028700"/>
          </a:xfrm>
          <a:prstGeom prst="rect">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900">
              <a:solidFill>
                <a:schemeClr val="dk1"/>
              </a:solidFill>
              <a:latin typeface="Calibri"/>
              <a:ea typeface="Calibri"/>
              <a:cs typeface="Calibri"/>
              <a:sym typeface="Calibri"/>
            </a:endParaRPr>
          </a:p>
        </p:txBody>
      </p:sp>
      <p:sp>
        <p:nvSpPr>
          <p:cNvPr id="184" name="Google Shape;184;g3e868c9b429_0_0"/>
          <p:cNvSpPr/>
          <p:nvPr/>
        </p:nvSpPr>
        <p:spPr>
          <a:xfrm>
            <a:off x="1069848" y="2276856"/>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2600"/>
              <a:buFont typeface="Garamond"/>
              <a:buNone/>
            </a:pPr>
            <a:r>
              <a:rPr b="1" lang="en-US" sz="3000">
                <a:solidFill>
                  <a:srgbClr val="F5C784"/>
                </a:solidFill>
                <a:latin typeface="Garamond"/>
                <a:ea typeface="Garamond"/>
                <a:cs typeface="Garamond"/>
                <a:sym typeface="Garamond"/>
              </a:rPr>
              <a:t>1.  Product catalogue</a:t>
            </a:r>
            <a:endParaRPr sz="3000">
              <a:solidFill>
                <a:schemeClr val="dk1"/>
              </a:solidFill>
              <a:latin typeface="Calibri"/>
              <a:ea typeface="Calibri"/>
              <a:cs typeface="Calibri"/>
              <a:sym typeface="Calibri"/>
            </a:endParaRPr>
          </a:p>
        </p:txBody>
      </p:sp>
      <p:sp>
        <p:nvSpPr>
          <p:cNvPr id="185" name="Google Shape;185;g3e868c9b429_0_0"/>
          <p:cNvSpPr/>
          <p:nvPr/>
        </p:nvSpPr>
        <p:spPr>
          <a:xfrm>
            <a:off x="1110996" y="2852928"/>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AC"/>
              </a:buClr>
              <a:buSzPts val="1900"/>
              <a:buFont typeface="Calibri"/>
              <a:buNone/>
            </a:pPr>
            <a:r>
              <a:rPr lang="en-US" sz="2700">
                <a:solidFill>
                  <a:srgbClr val="D9C7AC"/>
                </a:solidFill>
                <a:latin typeface="Garamond"/>
                <a:ea typeface="Garamond"/>
                <a:cs typeface="Garamond"/>
                <a:sym typeface="Garamond"/>
              </a:rPr>
              <a:t>Answers menu questions in plain language, and points to where the answer came from.</a:t>
            </a:r>
            <a:endParaRPr sz="2700">
              <a:solidFill>
                <a:schemeClr val="dk1"/>
              </a:solidFill>
              <a:latin typeface="Garamond"/>
              <a:ea typeface="Garamond"/>
              <a:cs typeface="Garamond"/>
              <a:sym typeface="Garamond"/>
            </a:endParaRPr>
          </a:p>
        </p:txBody>
      </p:sp>
      <p:sp>
        <p:nvSpPr>
          <p:cNvPr id="186" name="Google Shape;186;g3e868c9b429_0_0"/>
          <p:cNvSpPr/>
          <p:nvPr/>
        </p:nvSpPr>
        <p:spPr>
          <a:xfrm>
            <a:off x="685800" y="3662172"/>
            <a:ext cx="164700" cy="1028700"/>
          </a:xfrm>
          <a:prstGeom prst="rect">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900">
              <a:solidFill>
                <a:schemeClr val="dk1"/>
              </a:solidFill>
              <a:latin typeface="Calibri"/>
              <a:ea typeface="Calibri"/>
              <a:cs typeface="Calibri"/>
              <a:sym typeface="Calibri"/>
            </a:endParaRPr>
          </a:p>
        </p:txBody>
      </p:sp>
      <p:sp>
        <p:nvSpPr>
          <p:cNvPr id="187" name="Google Shape;187;g3e868c9b429_0_0"/>
          <p:cNvSpPr/>
          <p:nvPr/>
        </p:nvSpPr>
        <p:spPr>
          <a:xfrm>
            <a:off x="1069848" y="3607308"/>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2600"/>
              <a:buFont typeface="Garamond"/>
              <a:buNone/>
            </a:pPr>
            <a:r>
              <a:rPr b="1" lang="en-US" sz="3000">
                <a:solidFill>
                  <a:srgbClr val="F5C784"/>
                </a:solidFill>
                <a:latin typeface="Garamond"/>
                <a:ea typeface="Garamond"/>
                <a:cs typeface="Garamond"/>
                <a:sym typeface="Garamond"/>
              </a:rPr>
              <a:t>2.  Recommendation</a:t>
            </a:r>
            <a:endParaRPr sz="3000">
              <a:solidFill>
                <a:schemeClr val="dk1"/>
              </a:solidFill>
              <a:latin typeface="Calibri"/>
              <a:ea typeface="Calibri"/>
              <a:cs typeface="Calibri"/>
              <a:sym typeface="Calibri"/>
            </a:endParaRPr>
          </a:p>
        </p:txBody>
      </p:sp>
      <p:sp>
        <p:nvSpPr>
          <p:cNvPr id="188" name="Google Shape;188;g3e868c9b429_0_0"/>
          <p:cNvSpPr/>
          <p:nvPr/>
        </p:nvSpPr>
        <p:spPr>
          <a:xfrm>
            <a:off x="1110996" y="4183380"/>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AC"/>
              </a:buClr>
              <a:buSzPts val="1900"/>
              <a:buFont typeface="Calibri"/>
              <a:buNone/>
            </a:pPr>
            <a:r>
              <a:rPr lang="en-US" sz="2700">
                <a:solidFill>
                  <a:srgbClr val="D9C7AC"/>
                </a:solidFill>
                <a:latin typeface="Garamond"/>
                <a:ea typeface="Garamond"/>
                <a:cs typeface="Garamond"/>
                <a:sym typeface="Garamond"/>
              </a:rPr>
              <a:t>Suggests an in-stock drink with a reason, a backup option, and any caveats worth saying.</a:t>
            </a:r>
            <a:endParaRPr sz="2700">
              <a:solidFill>
                <a:schemeClr val="dk1"/>
              </a:solidFill>
              <a:latin typeface="Garamond"/>
              <a:ea typeface="Garamond"/>
              <a:cs typeface="Garamond"/>
              <a:sym typeface="Garamond"/>
            </a:endParaRPr>
          </a:p>
        </p:txBody>
      </p:sp>
      <p:sp>
        <p:nvSpPr>
          <p:cNvPr id="189" name="Google Shape;189;g3e868c9b429_0_0"/>
          <p:cNvSpPr/>
          <p:nvPr/>
        </p:nvSpPr>
        <p:spPr>
          <a:xfrm>
            <a:off x="685800" y="4992624"/>
            <a:ext cx="164700" cy="1028700"/>
          </a:xfrm>
          <a:prstGeom prst="rect">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900">
              <a:solidFill>
                <a:schemeClr val="dk1"/>
              </a:solidFill>
              <a:latin typeface="Calibri"/>
              <a:ea typeface="Calibri"/>
              <a:cs typeface="Calibri"/>
              <a:sym typeface="Calibri"/>
            </a:endParaRPr>
          </a:p>
        </p:txBody>
      </p:sp>
      <p:sp>
        <p:nvSpPr>
          <p:cNvPr id="190" name="Google Shape;190;g3e868c9b429_0_0"/>
          <p:cNvSpPr/>
          <p:nvPr/>
        </p:nvSpPr>
        <p:spPr>
          <a:xfrm>
            <a:off x="1069848" y="4937760"/>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2600"/>
              <a:buFont typeface="Garamond"/>
              <a:buNone/>
            </a:pPr>
            <a:r>
              <a:rPr b="1" lang="en-US" sz="3000">
                <a:solidFill>
                  <a:srgbClr val="F5C784"/>
                </a:solidFill>
                <a:latin typeface="Garamond"/>
                <a:ea typeface="Garamond"/>
                <a:cs typeface="Garamond"/>
                <a:sym typeface="Garamond"/>
              </a:rPr>
              <a:t>3.  Order builder</a:t>
            </a:r>
            <a:endParaRPr sz="3000">
              <a:solidFill>
                <a:schemeClr val="dk1"/>
              </a:solidFill>
              <a:latin typeface="Calibri"/>
              <a:ea typeface="Calibri"/>
              <a:cs typeface="Calibri"/>
              <a:sym typeface="Calibri"/>
            </a:endParaRPr>
          </a:p>
        </p:txBody>
      </p:sp>
      <p:sp>
        <p:nvSpPr>
          <p:cNvPr id="191" name="Google Shape;191;g3e868c9b429_0_0"/>
          <p:cNvSpPr/>
          <p:nvPr/>
        </p:nvSpPr>
        <p:spPr>
          <a:xfrm>
            <a:off x="1110996" y="5513832"/>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AC"/>
              </a:buClr>
              <a:buSzPts val="1900"/>
              <a:buFont typeface="Calibri"/>
              <a:buNone/>
            </a:pPr>
            <a:r>
              <a:rPr lang="en-US" sz="2700">
                <a:solidFill>
                  <a:srgbClr val="D9C7AC"/>
                </a:solidFill>
                <a:latin typeface="Garamond"/>
                <a:ea typeface="Garamond"/>
                <a:cs typeface="Garamond"/>
                <a:sym typeface="Garamond"/>
              </a:rPr>
              <a:t>Turns a spoken-style order into clear details — or asks one quick clarifying question.</a:t>
            </a:r>
            <a:endParaRPr sz="2700">
              <a:solidFill>
                <a:schemeClr val="dk1"/>
              </a:solidFill>
              <a:latin typeface="Garamond"/>
              <a:ea typeface="Garamond"/>
              <a:cs typeface="Garamond"/>
              <a:sym typeface="Garamond"/>
            </a:endParaRPr>
          </a:p>
        </p:txBody>
      </p:sp>
      <p:sp>
        <p:nvSpPr>
          <p:cNvPr id="192" name="Google Shape;192;g3e868c9b429_0_0"/>
          <p:cNvSpPr/>
          <p:nvPr/>
        </p:nvSpPr>
        <p:spPr>
          <a:xfrm>
            <a:off x="685800" y="6323076"/>
            <a:ext cx="164700" cy="1028700"/>
          </a:xfrm>
          <a:prstGeom prst="rect">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900">
              <a:solidFill>
                <a:schemeClr val="dk1"/>
              </a:solidFill>
              <a:latin typeface="Calibri"/>
              <a:ea typeface="Calibri"/>
              <a:cs typeface="Calibri"/>
              <a:sym typeface="Calibri"/>
            </a:endParaRPr>
          </a:p>
        </p:txBody>
      </p:sp>
      <p:sp>
        <p:nvSpPr>
          <p:cNvPr id="193" name="Google Shape;193;g3e868c9b429_0_0"/>
          <p:cNvSpPr/>
          <p:nvPr/>
        </p:nvSpPr>
        <p:spPr>
          <a:xfrm>
            <a:off x="1069848" y="6268212"/>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2600"/>
              <a:buFont typeface="Garamond"/>
              <a:buNone/>
            </a:pPr>
            <a:r>
              <a:rPr b="1" lang="en-US" sz="3000">
                <a:solidFill>
                  <a:srgbClr val="F5C784"/>
                </a:solidFill>
                <a:latin typeface="Garamond"/>
                <a:ea typeface="Garamond"/>
                <a:cs typeface="Garamond"/>
                <a:sym typeface="Garamond"/>
              </a:rPr>
              <a:t>4.  Order summary</a:t>
            </a:r>
            <a:endParaRPr sz="3000">
              <a:solidFill>
                <a:schemeClr val="dk1"/>
              </a:solidFill>
              <a:latin typeface="Calibri"/>
              <a:ea typeface="Calibri"/>
              <a:cs typeface="Calibri"/>
              <a:sym typeface="Calibri"/>
            </a:endParaRPr>
          </a:p>
        </p:txBody>
      </p:sp>
      <p:sp>
        <p:nvSpPr>
          <p:cNvPr id="194" name="Google Shape;194;g3e868c9b429_0_0"/>
          <p:cNvSpPr/>
          <p:nvPr/>
        </p:nvSpPr>
        <p:spPr>
          <a:xfrm>
            <a:off x="1110996" y="6844284"/>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AC"/>
              </a:buClr>
              <a:buSzPts val="1900"/>
              <a:buFont typeface="Calibri"/>
              <a:buNone/>
            </a:pPr>
            <a:r>
              <a:rPr lang="en-US" sz="2700">
                <a:solidFill>
                  <a:srgbClr val="D9C7AC"/>
                </a:solidFill>
                <a:latin typeface="Garamond"/>
                <a:ea typeface="Garamond"/>
                <a:cs typeface="Garamond"/>
                <a:sym typeface="Garamond"/>
              </a:rPr>
              <a:t>Writes the customer’s confirmation and the barista’s prep card, with allergens highlighted.</a:t>
            </a:r>
            <a:endParaRPr sz="2700">
              <a:solidFill>
                <a:schemeClr val="dk1"/>
              </a:solidFill>
              <a:latin typeface="Garamond"/>
              <a:ea typeface="Garamond"/>
              <a:cs typeface="Garamond"/>
              <a:sym typeface="Garamond"/>
            </a:endParaRPr>
          </a:p>
        </p:txBody>
      </p:sp>
      <p:sp>
        <p:nvSpPr>
          <p:cNvPr id="195" name="Google Shape;195;g3e868c9b429_0_0"/>
          <p:cNvSpPr/>
          <p:nvPr/>
        </p:nvSpPr>
        <p:spPr>
          <a:xfrm>
            <a:off x="685800" y="7653528"/>
            <a:ext cx="164700" cy="1028700"/>
          </a:xfrm>
          <a:prstGeom prst="rect">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900">
              <a:solidFill>
                <a:schemeClr val="dk1"/>
              </a:solidFill>
              <a:latin typeface="Calibri"/>
              <a:ea typeface="Calibri"/>
              <a:cs typeface="Calibri"/>
              <a:sym typeface="Calibri"/>
            </a:endParaRPr>
          </a:p>
        </p:txBody>
      </p:sp>
      <p:sp>
        <p:nvSpPr>
          <p:cNvPr id="196" name="Google Shape;196;g3e868c9b429_0_0"/>
          <p:cNvSpPr/>
          <p:nvPr/>
        </p:nvSpPr>
        <p:spPr>
          <a:xfrm>
            <a:off x="1069848" y="7598664"/>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2600"/>
              <a:buFont typeface="Garamond"/>
              <a:buNone/>
            </a:pPr>
            <a:r>
              <a:rPr b="1" lang="en-US" sz="3000">
                <a:solidFill>
                  <a:srgbClr val="F5C784"/>
                </a:solidFill>
                <a:latin typeface="Garamond"/>
                <a:ea typeface="Garamond"/>
                <a:cs typeface="Garamond"/>
                <a:sym typeface="Garamond"/>
              </a:rPr>
              <a:t>5.  Coordinator</a:t>
            </a:r>
            <a:endParaRPr sz="3000">
              <a:solidFill>
                <a:schemeClr val="dk1"/>
              </a:solidFill>
              <a:latin typeface="Calibri"/>
              <a:ea typeface="Calibri"/>
              <a:cs typeface="Calibri"/>
              <a:sym typeface="Calibri"/>
            </a:endParaRPr>
          </a:p>
        </p:txBody>
      </p:sp>
      <p:sp>
        <p:nvSpPr>
          <p:cNvPr id="197" name="Google Shape;197;g3e868c9b429_0_0"/>
          <p:cNvSpPr/>
          <p:nvPr/>
        </p:nvSpPr>
        <p:spPr>
          <a:xfrm>
            <a:off x="1110996" y="8174736"/>
            <a:ext cx="163221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C7AC"/>
              </a:buClr>
              <a:buSzPts val="1900"/>
              <a:buFont typeface="Calibri"/>
              <a:buNone/>
            </a:pPr>
            <a:r>
              <a:rPr lang="en-US" sz="2700">
                <a:solidFill>
                  <a:srgbClr val="D9C7AC"/>
                </a:solidFill>
                <a:latin typeface="Garamond"/>
                <a:ea typeface="Garamond"/>
                <a:cs typeface="Garamond"/>
                <a:sym typeface="Garamond"/>
              </a:rPr>
              <a:t>Carries context between the three steps, so each one knows what came before.</a:t>
            </a:r>
            <a:endParaRPr sz="2700">
              <a:solidFill>
                <a:schemeClr val="dk1"/>
              </a:solidFill>
              <a:latin typeface="Garamond"/>
              <a:ea typeface="Garamond"/>
              <a:cs typeface="Garamond"/>
              <a:sym typeface="Garamond"/>
            </a:endParaRPr>
          </a:p>
        </p:txBody>
      </p:sp>
      <p:sp>
        <p:nvSpPr>
          <p:cNvPr id="198" name="Google Shape;198;g3e868c9b429_0_0"/>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199" name="Google Shape;199;g3e868c9b429_0_0"/>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204" name="Shape 204"/>
        <p:cNvGrpSpPr/>
        <p:nvPr/>
      </p:nvGrpSpPr>
      <p:grpSpPr>
        <a:xfrm>
          <a:off x="0" y="0"/>
          <a:ext cx="0" cy="0"/>
          <a:chOff x="0" y="0"/>
          <a:chExt cx="0" cy="0"/>
        </a:xfrm>
      </p:grpSpPr>
      <p:sp>
        <p:nvSpPr>
          <p:cNvPr id="205" name="Google Shape;205;g3e868c9b429_1_0"/>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206" name="Google Shape;206;g3e868c9b429_1_0"/>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207" name="Google Shape;207;g3e868c9b429_1_0"/>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The UI — Six Screens</a:t>
            </a:r>
            <a:endParaRPr sz="4700">
              <a:solidFill>
                <a:schemeClr val="dk1"/>
              </a:solidFill>
              <a:latin typeface="Calibri"/>
              <a:ea typeface="Calibri"/>
              <a:cs typeface="Calibri"/>
              <a:sym typeface="Calibri"/>
            </a:endParaRPr>
          </a:p>
        </p:txBody>
      </p:sp>
      <p:sp>
        <p:nvSpPr>
          <p:cNvPr id="208" name="Google Shape;208;g3e868c9b429_1_0"/>
          <p:cNvSpPr/>
          <p:nvPr/>
        </p:nvSpPr>
        <p:spPr>
          <a:xfrm>
            <a:off x="1810512" y="1536192"/>
            <a:ext cx="157734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B49A"/>
              </a:buClr>
              <a:buSzPts val="2000"/>
              <a:buFont typeface="Garamond"/>
              <a:buNone/>
            </a:pPr>
            <a:r>
              <a:rPr i="1" lang="en-US" sz="2600">
                <a:solidFill>
                  <a:srgbClr val="C6B49A"/>
                </a:solidFill>
                <a:latin typeface="Garamond"/>
                <a:ea typeface="Garamond"/>
                <a:cs typeface="Garamond"/>
                <a:sym typeface="Garamond"/>
              </a:rPr>
              <a:t>A simple web app the whole team can use — a screen for every part of the job</a:t>
            </a:r>
            <a:endParaRPr sz="2600">
              <a:solidFill>
                <a:schemeClr val="dk1"/>
              </a:solidFill>
              <a:latin typeface="Calibri"/>
              <a:ea typeface="Calibri"/>
              <a:cs typeface="Calibri"/>
              <a:sym typeface="Calibri"/>
            </a:endParaRPr>
          </a:p>
        </p:txBody>
      </p:sp>
      <p:sp>
        <p:nvSpPr>
          <p:cNvPr id="209" name="Google Shape;209;g3e868c9b429_1_0"/>
          <p:cNvSpPr/>
          <p:nvPr/>
        </p:nvSpPr>
        <p:spPr>
          <a:xfrm>
            <a:off x="685800" y="2276856"/>
            <a:ext cx="5253300" cy="25512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10" name="Google Shape;210;g3e868c9b429_1_0"/>
          <p:cNvSpPr/>
          <p:nvPr/>
        </p:nvSpPr>
        <p:spPr>
          <a:xfrm>
            <a:off x="685800" y="2276856"/>
            <a:ext cx="52533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11" name="Google Shape;211;g3e868c9b429_1_0"/>
          <p:cNvSpPr/>
          <p:nvPr/>
        </p:nvSpPr>
        <p:spPr>
          <a:xfrm>
            <a:off x="987552" y="2606040"/>
            <a:ext cx="576000" cy="576000"/>
          </a:xfrm>
          <a:prstGeom prst="ellipse">
            <a:avLst/>
          </a:prstGeom>
          <a:solidFill>
            <a:srgbClr val="F5C784"/>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12" name="Google Shape;212;g3e868c9b429_1_0"/>
          <p:cNvSpPr/>
          <p:nvPr/>
        </p:nvSpPr>
        <p:spPr>
          <a:xfrm>
            <a:off x="987552" y="2606040"/>
            <a:ext cx="576000" cy="57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1A0E"/>
              </a:buClr>
              <a:buSzPts val="2500"/>
              <a:buFont typeface="Garamond"/>
              <a:buNone/>
            </a:pPr>
            <a:r>
              <a:rPr b="1" lang="en-US" sz="2500">
                <a:solidFill>
                  <a:srgbClr val="2C1A0E"/>
                </a:solidFill>
                <a:latin typeface="Garamond"/>
                <a:ea typeface="Garamond"/>
                <a:cs typeface="Garamond"/>
                <a:sym typeface="Garamond"/>
              </a:rPr>
              <a:t>1</a:t>
            </a:r>
            <a:endParaRPr sz="2500">
              <a:solidFill>
                <a:schemeClr val="dk1"/>
              </a:solidFill>
              <a:latin typeface="Calibri"/>
              <a:ea typeface="Calibri"/>
              <a:cs typeface="Calibri"/>
              <a:sym typeface="Calibri"/>
            </a:endParaRPr>
          </a:p>
        </p:txBody>
      </p:sp>
      <p:sp>
        <p:nvSpPr>
          <p:cNvPr id="213" name="Google Shape;213;g3e868c9b429_1_0"/>
          <p:cNvSpPr/>
          <p:nvPr/>
        </p:nvSpPr>
        <p:spPr>
          <a:xfrm>
            <a:off x="1673352" y="2592324"/>
            <a:ext cx="3991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200"/>
              <a:buFont typeface="Garamond"/>
              <a:buNone/>
            </a:pPr>
            <a:r>
              <a:rPr b="1" lang="en-US" sz="2200">
                <a:solidFill>
                  <a:srgbClr val="2C1A0E"/>
                </a:solidFill>
                <a:latin typeface="Garamond"/>
                <a:ea typeface="Garamond"/>
                <a:cs typeface="Garamond"/>
                <a:sym typeface="Garamond"/>
              </a:rPr>
              <a:t>Daily Dashboard</a:t>
            </a:r>
            <a:endParaRPr sz="2200">
              <a:solidFill>
                <a:schemeClr val="dk1"/>
              </a:solidFill>
              <a:latin typeface="Calibri"/>
              <a:ea typeface="Calibri"/>
              <a:cs typeface="Calibri"/>
              <a:sym typeface="Calibri"/>
            </a:endParaRPr>
          </a:p>
        </p:txBody>
      </p:sp>
      <p:sp>
        <p:nvSpPr>
          <p:cNvPr id="214" name="Google Shape;214;g3e868c9b429_1_0"/>
          <p:cNvSpPr/>
          <p:nvPr/>
        </p:nvSpPr>
        <p:spPr>
          <a:xfrm>
            <a:off x="1028700" y="3401568"/>
            <a:ext cx="4567500" cy="130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4A35"/>
              </a:buClr>
              <a:buSzPts val="1600"/>
              <a:buFont typeface="Calibri"/>
              <a:buNone/>
            </a:pPr>
            <a:r>
              <a:rPr lang="en-US" sz="2400">
                <a:solidFill>
                  <a:srgbClr val="5E4A35"/>
                </a:solidFill>
                <a:latin typeface="Garamond"/>
                <a:ea typeface="Garamond"/>
                <a:cs typeface="Garamond"/>
                <a:sym typeface="Garamond"/>
              </a:rPr>
              <a:t>An end of day summary view that gives the coffee branch and overview and preparation steps for next day.</a:t>
            </a:r>
            <a:endParaRPr sz="2400">
              <a:solidFill>
                <a:schemeClr val="dk1"/>
              </a:solidFill>
              <a:latin typeface="Garamond"/>
              <a:ea typeface="Garamond"/>
              <a:cs typeface="Garamond"/>
              <a:sym typeface="Garamond"/>
            </a:endParaRPr>
          </a:p>
        </p:txBody>
      </p:sp>
      <p:sp>
        <p:nvSpPr>
          <p:cNvPr id="215" name="Google Shape;215;g3e868c9b429_1_0"/>
          <p:cNvSpPr/>
          <p:nvPr/>
        </p:nvSpPr>
        <p:spPr>
          <a:xfrm>
            <a:off x="6377940" y="2276856"/>
            <a:ext cx="5253300" cy="25512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16" name="Google Shape;216;g3e868c9b429_1_0"/>
          <p:cNvSpPr/>
          <p:nvPr/>
        </p:nvSpPr>
        <p:spPr>
          <a:xfrm>
            <a:off x="6377940" y="2276856"/>
            <a:ext cx="52533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17" name="Google Shape;217;g3e868c9b429_1_0"/>
          <p:cNvSpPr/>
          <p:nvPr/>
        </p:nvSpPr>
        <p:spPr>
          <a:xfrm>
            <a:off x="6679692" y="2606040"/>
            <a:ext cx="576000" cy="576000"/>
          </a:xfrm>
          <a:prstGeom prst="ellipse">
            <a:avLst/>
          </a:prstGeom>
          <a:solidFill>
            <a:srgbClr val="F5C784"/>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18" name="Google Shape;218;g3e868c9b429_1_0"/>
          <p:cNvSpPr/>
          <p:nvPr/>
        </p:nvSpPr>
        <p:spPr>
          <a:xfrm>
            <a:off x="6679692" y="2606040"/>
            <a:ext cx="576000" cy="57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1A0E"/>
              </a:buClr>
              <a:buSzPts val="2500"/>
              <a:buFont typeface="Garamond"/>
              <a:buNone/>
            </a:pPr>
            <a:r>
              <a:rPr b="1" lang="en-US" sz="2500">
                <a:solidFill>
                  <a:srgbClr val="2C1A0E"/>
                </a:solidFill>
                <a:latin typeface="Garamond"/>
                <a:ea typeface="Garamond"/>
                <a:cs typeface="Garamond"/>
                <a:sym typeface="Garamond"/>
              </a:rPr>
              <a:t>2</a:t>
            </a:r>
            <a:endParaRPr sz="2500">
              <a:solidFill>
                <a:schemeClr val="dk1"/>
              </a:solidFill>
              <a:latin typeface="Calibri"/>
              <a:ea typeface="Calibri"/>
              <a:cs typeface="Calibri"/>
              <a:sym typeface="Calibri"/>
            </a:endParaRPr>
          </a:p>
        </p:txBody>
      </p:sp>
      <p:sp>
        <p:nvSpPr>
          <p:cNvPr id="219" name="Google Shape;219;g3e868c9b429_1_0"/>
          <p:cNvSpPr/>
          <p:nvPr/>
        </p:nvSpPr>
        <p:spPr>
          <a:xfrm>
            <a:off x="7365492" y="2592324"/>
            <a:ext cx="3991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200"/>
              <a:buFont typeface="Garamond"/>
              <a:buNone/>
            </a:pPr>
            <a:r>
              <a:rPr b="1" lang="en-US" sz="2200">
                <a:solidFill>
                  <a:srgbClr val="2C1A0E"/>
                </a:solidFill>
                <a:latin typeface="Garamond"/>
                <a:ea typeface="Garamond"/>
                <a:cs typeface="Garamond"/>
                <a:sym typeface="Garamond"/>
              </a:rPr>
              <a:t>Manager</a:t>
            </a:r>
            <a:endParaRPr sz="2200">
              <a:solidFill>
                <a:schemeClr val="dk1"/>
              </a:solidFill>
              <a:latin typeface="Calibri"/>
              <a:ea typeface="Calibri"/>
              <a:cs typeface="Calibri"/>
              <a:sym typeface="Calibri"/>
            </a:endParaRPr>
          </a:p>
        </p:txBody>
      </p:sp>
      <p:sp>
        <p:nvSpPr>
          <p:cNvPr id="220" name="Google Shape;220;g3e868c9b429_1_0"/>
          <p:cNvSpPr/>
          <p:nvPr/>
        </p:nvSpPr>
        <p:spPr>
          <a:xfrm>
            <a:off x="6720840" y="3401568"/>
            <a:ext cx="4567500" cy="130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4A35"/>
              </a:buClr>
              <a:buSzPts val="1600"/>
              <a:buFont typeface="Calibri"/>
              <a:buNone/>
            </a:pPr>
            <a:r>
              <a:rPr lang="en-US" sz="2400">
                <a:solidFill>
                  <a:srgbClr val="5E4A35"/>
                </a:solidFill>
                <a:latin typeface="Garamond"/>
                <a:ea typeface="Garamond"/>
                <a:cs typeface="Garamond"/>
                <a:sym typeface="Garamond"/>
              </a:rPr>
              <a:t>Demand, stock, staffing, and the go / no-go call.</a:t>
            </a:r>
            <a:endParaRPr sz="2400">
              <a:solidFill>
                <a:schemeClr val="dk1"/>
              </a:solidFill>
              <a:latin typeface="Garamond"/>
              <a:ea typeface="Garamond"/>
              <a:cs typeface="Garamond"/>
              <a:sym typeface="Garamond"/>
            </a:endParaRPr>
          </a:p>
        </p:txBody>
      </p:sp>
      <p:sp>
        <p:nvSpPr>
          <p:cNvPr id="221" name="Google Shape;221;g3e868c9b429_1_0"/>
          <p:cNvSpPr/>
          <p:nvPr/>
        </p:nvSpPr>
        <p:spPr>
          <a:xfrm>
            <a:off x="12070080" y="2276856"/>
            <a:ext cx="5253300" cy="25512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22" name="Google Shape;222;g3e868c9b429_1_0"/>
          <p:cNvSpPr/>
          <p:nvPr/>
        </p:nvSpPr>
        <p:spPr>
          <a:xfrm>
            <a:off x="12070080" y="2276856"/>
            <a:ext cx="52533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23" name="Google Shape;223;g3e868c9b429_1_0"/>
          <p:cNvSpPr/>
          <p:nvPr/>
        </p:nvSpPr>
        <p:spPr>
          <a:xfrm>
            <a:off x="12371832" y="2606040"/>
            <a:ext cx="576000" cy="576000"/>
          </a:xfrm>
          <a:prstGeom prst="ellipse">
            <a:avLst/>
          </a:prstGeom>
          <a:solidFill>
            <a:srgbClr val="F5C784"/>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24" name="Google Shape;224;g3e868c9b429_1_0"/>
          <p:cNvSpPr/>
          <p:nvPr/>
        </p:nvSpPr>
        <p:spPr>
          <a:xfrm>
            <a:off x="12371832" y="2606040"/>
            <a:ext cx="576000" cy="57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1A0E"/>
              </a:buClr>
              <a:buSzPts val="2500"/>
              <a:buFont typeface="Garamond"/>
              <a:buNone/>
            </a:pPr>
            <a:r>
              <a:rPr b="1" lang="en-US" sz="2500">
                <a:solidFill>
                  <a:srgbClr val="2C1A0E"/>
                </a:solidFill>
                <a:latin typeface="Garamond"/>
                <a:ea typeface="Garamond"/>
                <a:cs typeface="Garamond"/>
                <a:sym typeface="Garamond"/>
              </a:rPr>
              <a:t>3</a:t>
            </a:r>
            <a:endParaRPr sz="2500">
              <a:solidFill>
                <a:schemeClr val="dk1"/>
              </a:solidFill>
              <a:latin typeface="Calibri"/>
              <a:ea typeface="Calibri"/>
              <a:cs typeface="Calibri"/>
              <a:sym typeface="Calibri"/>
            </a:endParaRPr>
          </a:p>
        </p:txBody>
      </p:sp>
      <p:sp>
        <p:nvSpPr>
          <p:cNvPr id="225" name="Google Shape;225;g3e868c9b429_1_0"/>
          <p:cNvSpPr/>
          <p:nvPr/>
        </p:nvSpPr>
        <p:spPr>
          <a:xfrm>
            <a:off x="13057632" y="2592324"/>
            <a:ext cx="3991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200"/>
              <a:buFont typeface="Garamond"/>
              <a:buNone/>
            </a:pPr>
            <a:r>
              <a:rPr b="1" lang="en-US" sz="2200">
                <a:solidFill>
                  <a:srgbClr val="2C1A0E"/>
                </a:solidFill>
                <a:latin typeface="Garamond"/>
                <a:ea typeface="Garamond"/>
                <a:cs typeface="Garamond"/>
                <a:sym typeface="Garamond"/>
              </a:rPr>
              <a:t>Barista</a:t>
            </a:r>
            <a:endParaRPr sz="2200">
              <a:solidFill>
                <a:schemeClr val="dk1"/>
              </a:solidFill>
              <a:latin typeface="Calibri"/>
              <a:ea typeface="Calibri"/>
              <a:cs typeface="Calibri"/>
              <a:sym typeface="Calibri"/>
            </a:endParaRPr>
          </a:p>
        </p:txBody>
      </p:sp>
      <p:sp>
        <p:nvSpPr>
          <p:cNvPr id="226" name="Google Shape;226;g3e868c9b429_1_0"/>
          <p:cNvSpPr/>
          <p:nvPr/>
        </p:nvSpPr>
        <p:spPr>
          <a:xfrm>
            <a:off x="12412980" y="3401568"/>
            <a:ext cx="4567500" cy="130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4A35"/>
              </a:buClr>
              <a:buSzPts val="1600"/>
              <a:buFont typeface="Calibri"/>
              <a:buNone/>
            </a:pPr>
            <a:r>
              <a:rPr lang="en-US" sz="2400">
                <a:solidFill>
                  <a:srgbClr val="5E4A35"/>
                </a:solidFill>
                <a:latin typeface="Garamond"/>
                <a:ea typeface="Garamond"/>
                <a:cs typeface="Garamond"/>
                <a:sym typeface="Garamond"/>
              </a:rPr>
              <a:t>Ranked drink ideas, with the reasoning shown.</a:t>
            </a:r>
            <a:endParaRPr sz="2400">
              <a:solidFill>
                <a:schemeClr val="dk1"/>
              </a:solidFill>
              <a:latin typeface="Garamond"/>
              <a:ea typeface="Garamond"/>
              <a:cs typeface="Garamond"/>
              <a:sym typeface="Garamond"/>
            </a:endParaRPr>
          </a:p>
        </p:txBody>
      </p:sp>
      <p:sp>
        <p:nvSpPr>
          <p:cNvPr id="227" name="Google Shape;227;g3e868c9b429_1_0"/>
          <p:cNvSpPr/>
          <p:nvPr/>
        </p:nvSpPr>
        <p:spPr>
          <a:xfrm>
            <a:off x="685800" y="5129784"/>
            <a:ext cx="5253300" cy="25512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28" name="Google Shape;228;g3e868c9b429_1_0"/>
          <p:cNvSpPr/>
          <p:nvPr/>
        </p:nvSpPr>
        <p:spPr>
          <a:xfrm>
            <a:off x="685800" y="5129784"/>
            <a:ext cx="52533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29" name="Google Shape;229;g3e868c9b429_1_0"/>
          <p:cNvSpPr/>
          <p:nvPr/>
        </p:nvSpPr>
        <p:spPr>
          <a:xfrm>
            <a:off x="987552" y="5458968"/>
            <a:ext cx="576000" cy="576000"/>
          </a:xfrm>
          <a:prstGeom prst="ellipse">
            <a:avLst/>
          </a:prstGeom>
          <a:solidFill>
            <a:srgbClr val="F5C784"/>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30" name="Google Shape;230;g3e868c9b429_1_0"/>
          <p:cNvSpPr/>
          <p:nvPr/>
        </p:nvSpPr>
        <p:spPr>
          <a:xfrm>
            <a:off x="987552" y="5458968"/>
            <a:ext cx="576000" cy="57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1A0E"/>
              </a:buClr>
              <a:buSzPts val="2500"/>
              <a:buFont typeface="Garamond"/>
              <a:buNone/>
            </a:pPr>
            <a:r>
              <a:rPr b="1" lang="en-US" sz="2500">
                <a:solidFill>
                  <a:srgbClr val="2C1A0E"/>
                </a:solidFill>
                <a:latin typeface="Garamond"/>
                <a:ea typeface="Garamond"/>
                <a:cs typeface="Garamond"/>
                <a:sym typeface="Garamond"/>
              </a:rPr>
              <a:t>4</a:t>
            </a:r>
            <a:endParaRPr sz="2500">
              <a:solidFill>
                <a:schemeClr val="dk1"/>
              </a:solidFill>
              <a:latin typeface="Calibri"/>
              <a:ea typeface="Calibri"/>
              <a:cs typeface="Calibri"/>
              <a:sym typeface="Calibri"/>
            </a:endParaRPr>
          </a:p>
        </p:txBody>
      </p:sp>
      <p:sp>
        <p:nvSpPr>
          <p:cNvPr id="231" name="Google Shape;231;g3e868c9b429_1_0"/>
          <p:cNvSpPr/>
          <p:nvPr/>
        </p:nvSpPr>
        <p:spPr>
          <a:xfrm>
            <a:off x="1673352" y="5445252"/>
            <a:ext cx="3991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200"/>
              <a:buFont typeface="Garamond"/>
              <a:buNone/>
            </a:pPr>
            <a:r>
              <a:rPr b="1" lang="en-US" sz="2200">
                <a:solidFill>
                  <a:srgbClr val="2C1A0E"/>
                </a:solidFill>
                <a:latin typeface="Garamond"/>
                <a:ea typeface="Garamond"/>
                <a:cs typeface="Garamond"/>
                <a:sym typeface="Garamond"/>
              </a:rPr>
              <a:t>Orders</a:t>
            </a:r>
            <a:endParaRPr sz="2200">
              <a:solidFill>
                <a:schemeClr val="dk1"/>
              </a:solidFill>
              <a:latin typeface="Calibri"/>
              <a:ea typeface="Calibri"/>
              <a:cs typeface="Calibri"/>
              <a:sym typeface="Calibri"/>
            </a:endParaRPr>
          </a:p>
        </p:txBody>
      </p:sp>
      <p:sp>
        <p:nvSpPr>
          <p:cNvPr id="232" name="Google Shape;232;g3e868c9b429_1_0"/>
          <p:cNvSpPr/>
          <p:nvPr/>
        </p:nvSpPr>
        <p:spPr>
          <a:xfrm>
            <a:off x="1028700" y="6254496"/>
            <a:ext cx="4567500" cy="130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4A35"/>
              </a:buClr>
              <a:buSzPts val="1600"/>
              <a:buFont typeface="Calibri"/>
              <a:buNone/>
            </a:pPr>
            <a:r>
              <a:rPr lang="en-US" sz="2400">
                <a:solidFill>
                  <a:srgbClr val="5E4A35"/>
                </a:solidFill>
                <a:latin typeface="Garamond"/>
                <a:ea typeface="Garamond"/>
                <a:cs typeface="Garamond"/>
                <a:sym typeface="Garamond"/>
              </a:rPr>
              <a:t>Orders queue and that need to be completed. Recent Activity Log.</a:t>
            </a:r>
            <a:endParaRPr sz="2400">
              <a:solidFill>
                <a:schemeClr val="dk1"/>
              </a:solidFill>
              <a:latin typeface="Garamond"/>
              <a:ea typeface="Garamond"/>
              <a:cs typeface="Garamond"/>
              <a:sym typeface="Garamond"/>
            </a:endParaRPr>
          </a:p>
        </p:txBody>
      </p:sp>
      <p:sp>
        <p:nvSpPr>
          <p:cNvPr id="233" name="Google Shape;233;g3e868c9b429_1_0"/>
          <p:cNvSpPr/>
          <p:nvPr/>
        </p:nvSpPr>
        <p:spPr>
          <a:xfrm>
            <a:off x="6377940" y="5129784"/>
            <a:ext cx="5253300" cy="25512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34" name="Google Shape;234;g3e868c9b429_1_0"/>
          <p:cNvSpPr/>
          <p:nvPr/>
        </p:nvSpPr>
        <p:spPr>
          <a:xfrm>
            <a:off x="6377940" y="5129784"/>
            <a:ext cx="52533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35" name="Google Shape;235;g3e868c9b429_1_0"/>
          <p:cNvSpPr/>
          <p:nvPr/>
        </p:nvSpPr>
        <p:spPr>
          <a:xfrm>
            <a:off x="6679692" y="5458968"/>
            <a:ext cx="576000" cy="576000"/>
          </a:xfrm>
          <a:prstGeom prst="ellipse">
            <a:avLst/>
          </a:prstGeom>
          <a:solidFill>
            <a:srgbClr val="F5C784"/>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36" name="Google Shape;236;g3e868c9b429_1_0"/>
          <p:cNvSpPr/>
          <p:nvPr/>
        </p:nvSpPr>
        <p:spPr>
          <a:xfrm>
            <a:off x="6679692" y="5458968"/>
            <a:ext cx="576000" cy="57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1A0E"/>
              </a:buClr>
              <a:buSzPts val="2500"/>
              <a:buFont typeface="Garamond"/>
              <a:buNone/>
            </a:pPr>
            <a:r>
              <a:rPr b="1" lang="en-US" sz="2500">
                <a:solidFill>
                  <a:srgbClr val="2C1A0E"/>
                </a:solidFill>
                <a:latin typeface="Garamond"/>
                <a:ea typeface="Garamond"/>
                <a:cs typeface="Garamond"/>
                <a:sym typeface="Garamond"/>
              </a:rPr>
              <a:t>5</a:t>
            </a:r>
            <a:endParaRPr sz="2500">
              <a:solidFill>
                <a:schemeClr val="dk1"/>
              </a:solidFill>
              <a:latin typeface="Calibri"/>
              <a:ea typeface="Calibri"/>
              <a:cs typeface="Calibri"/>
              <a:sym typeface="Calibri"/>
            </a:endParaRPr>
          </a:p>
        </p:txBody>
      </p:sp>
      <p:sp>
        <p:nvSpPr>
          <p:cNvPr id="237" name="Google Shape;237;g3e868c9b429_1_0"/>
          <p:cNvSpPr/>
          <p:nvPr/>
        </p:nvSpPr>
        <p:spPr>
          <a:xfrm>
            <a:off x="7365492" y="5445252"/>
            <a:ext cx="3991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200"/>
              <a:buFont typeface="Garamond"/>
              <a:buNone/>
            </a:pPr>
            <a:r>
              <a:rPr b="1" lang="en-US" sz="2200">
                <a:solidFill>
                  <a:srgbClr val="2C1A0E"/>
                </a:solidFill>
                <a:latin typeface="Garamond"/>
                <a:ea typeface="Garamond"/>
                <a:cs typeface="Garamond"/>
                <a:sym typeface="Garamond"/>
              </a:rPr>
              <a:t>Evidence</a:t>
            </a:r>
            <a:endParaRPr sz="2200">
              <a:solidFill>
                <a:schemeClr val="dk1"/>
              </a:solidFill>
              <a:latin typeface="Calibri"/>
              <a:ea typeface="Calibri"/>
              <a:cs typeface="Calibri"/>
              <a:sym typeface="Calibri"/>
            </a:endParaRPr>
          </a:p>
        </p:txBody>
      </p:sp>
      <p:sp>
        <p:nvSpPr>
          <p:cNvPr id="238" name="Google Shape;238;g3e868c9b429_1_0"/>
          <p:cNvSpPr/>
          <p:nvPr/>
        </p:nvSpPr>
        <p:spPr>
          <a:xfrm>
            <a:off x="6720840" y="6254496"/>
            <a:ext cx="4567500" cy="130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4A35"/>
              </a:buClr>
              <a:buSzPts val="1600"/>
              <a:buFont typeface="Calibri"/>
              <a:buNone/>
            </a:pPr>
            <a:r>
              <a:rPr lang="en-US" sz="2400">
                <a:solidFill>
                  <a:srgbClr val="5E4A35"/>
                </a:solidFill>
                <a:latin typeface="Garamond"/>
                <a:ea typeface="Garamond"/>
                <a:cs typeface="Garamond"/>
                <a:sym typeface="Garamond"/>
              </a:rPr>
              <a:t>Everything behind a result: data used, guidelines, assumptions.</a:t>
            </a:r>
            <a:endParaRPr sz="2400">
              <a:solidFill>
                <a:schemeClr val="dk1"/>
              </a:solidFill>
              <a:latin typeface="Garamond"/>
              <a:ea typeface="Garamond"/>
              <a:cs typeface="Garamond"/>
              <a:sym typeface="Garamond"/>
            </a:endParaRPr>
          </a:p>
        </p:txBody>
      </p:sp>
      <p:sp>
        <p:nvSpPr>
          <p:cNvPr id="239" name="Google Shape;239;g3e868c9b429_1_0"/>
          <p:cNvSpPr/>
          <p:nvPr/>
        </p:nvSpPr>
        <p:spPr>
          <a:xfrm>
            <a:off x="12070080" y="5129784"/>
            <a:ext cx="5253300" cy="25512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40" name="Google Shape;240;g3e868c9b429_1_0"/>
          <p:cNvSpPr/>
          <p:nvPr/>
        </p:nvSpPr>
        <p:spPr>
          <a:xfrm>
            <a:off x="12070080" y="5129784"/>
            <a:ext cx="52533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41" name="Google Shape;241;g3e868c9b429_1_0"/>
          <p:cNvSpPr/>
          <p:nvPr/>
        </p:nvSpPr>
        <p:spPr>
          <a:xfrm>
            <a:off x="12371832" y="5458968"/>
            <a:ext cx="576000" cy="576000"/>
          </a:xfrm>
          <a:prstGeom prst="ellipse">
            <a:avLst/>
          </a:prstGeom>
          <a:solidFill>
            <a:srgbClr val="F5C784"/>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42" name="Google Shape;242;g3e868c9b429_1_0"/>
          <p:cNvSpPr/>
          <p:nvPr/>
        </p:nvSpPr>
        <p:spPr>
          <a:xfrm>
            <a:off x="12371832" y="5458968"/>
            <a:ext cx="576000" cy="57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1A0E"/>
              </a:buClr>
              <a:buSzPts val="2500"/>
              <a:buFont typeface="Garamond"/>
              <a:buNone/>
            </a:pPr>
            <a:r>
              <a:rPr b="1" lang="en-US" sz="2500">
                <a:solidFill>
                  <a:srgbClr val="2C1A0E"/>
                </a:solidFill>
                <a:latin typeface="Garamond"/>
                <a:ea typeface="Garamond"/>
                <a:cs typeface="Garamond"/>
                <a:sym typeface="Garamond"/>
              </a:rPr>
              <a:t>6</a:t>
            </a:r>
            <a:endParaRPr sz="2500">
              <a:solidFill>
                <a:schemeClr val="dk1"/>
              </a:solidFill>
              <a:latin typeface="Calibri"/>
              <a:ea typeface="Calibri"/>
              <a:cs typeface="Calibri"/>
              <a:sym typeface="Calibri"/>
            </a:endParaRPr>
          </a:p>
        </p:txBody>
      </p:sp>
      <p:sp>
        <p:nvSpPr>
          <p:cNvPr id="243" name="Google Shape;243;g3e868c9b429_1_0"/>
          <p:cNvSpPr/>
          <p:nvPr/>
        </p:nvSpPr>
        <p:spPr>
          <a:xfrm>
            <a:off x="13057632" y="5445252"/>
            <a:ext cx="3991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200"/>
              <a:buFont typeface="Garamond"/>
              <a:buNone/>
            </a:pPr>
            <a:r>
              <a:rPr b="1" lang="en-US" sz="2200">
                <a:solidFill>
                  <a:srgbClr val="2C1A0E"/>
                </a:solidFill>
                <a:latin typeface="Garamond"/>
                <a:ea typeface="Garamond"/>
                <a:cs typeface="Garamond"/>
                <a:sym typeface="Garamond"/>
              </a:rPr>
              <a:t>Review queue</a:t>
            </a:r>
            <a:endParaRPr sz="2200">
              <a:solidFill>
                <a:schemeClr val="dk1"/>
              </a:solidFill>
              <a:latin typeface="Calibri"/>
              <a:ea typeface="Calibri"/>
              <a:cs typeface="Calibri"/>
              <a:sym typeface="Calibri"/>
            </a:endParaRPr>
          </a:p>
        </p:txBody>
      </p:sp>
      <p:sp>
        <p:nvSpPr>
          <p:cNvPr id="244" name="Google Shape;244;g3e868c9b429_1_0"/>
          <p:cNvSpPr/>
          <p:nvPr/>
        </p:nvSpPr>
        <p:spPr>
          <a:xfrm>
            <a:off x="12412980" y="6254496"/>
            <a:ext cx="4567500" cy="130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4A35"/>
              </a:buClr>
              <a:buSzPts val="1600"/>
              <a:buFont typeface="Calibri"/>
              <a:buNone/>
            </a:pPr>
            <a:r>
              <a:rPr lang="en-US" sz="2400">
                <a:solidFill>
                  <a:srgbClr val="5E4A35"/>
                </a:solidFill>
                <a:latin typeface="Garamond"/>
                <a:ea typeface="Garamond"/>
                <a:cs typeface="Garamond"/>
                <a:sym typeface="Garamond"/>
              </a:rPr>
              <a:t>Items waiting for a person to approve, reject or escalate.</a:t>
            </a:r>
            <a:endParaRPr sz="2400">
              <a:solidFill>
                <a:schemeClr val="dk1"/>
              </a:solidFill>
              <a:latin typeface="Garamond"/>
              <a:ea typeface="Garamond"/>
              <a:cs typeface="Garamond"/>
              <a:sym typeface="Garamond"/>
            </a:endParaRPr>
          </a:p>
        </p:txBody>
      </p:sp>
      <p:sp>
        <p:nvSpPr>
          <p:cNvPr id="245" name="Google Shape;245;g3e868c9b429_1_0"/>
          <p:cNvSpPr/>
          <p:nvPr/>
        </p:nvSpPr>
        <p:spPr>
          <a:xfrm>
            <a:off x="685800" y="7982712"/>
            <a:ext cx="16911900" cy="1179600"/>
          </a:xfrm>
          <a:prstGeom prst="rect">
            <a:avLst/>
          </a:prstGeom>
          <a:solidFill>
            <a:srgbClr val="2C1A0E"/>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46" name="Google Shape;246;g3e868c9b429_1_0"/>
          <p:cNvSpPr/>
          <p:nvPr/>
        </p:nvSpPr>
        <p:spPr>
          <a:xfrm>
            <a:off x="1069848" y="7982712"/>
            <a:ext cx="16184700" cy="117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2000"/>
              <a:buFont typeface="Garamond"/>
              <a:buNone/>
            </a:pPr>
            <a:r>
              <a:rPr b="1" i="1" lang="en-US" sz="2600">
                <a:solidFill>
                  <a:srgbClr val="F5C784"/>
                </a:solidFill>
                <a:latin typeface="Garamond"/>
                <a:ea typeface="Garamond"/>
                <a:cs typeface="Garamond"/>
                <a:sym typeface="Garamond"/>
              </a:rPr>
              <a:t>On every screen:  </a:t>
            </a:r>
            <a:r>
              <a:rPr lang="en-US" sz="2500">
                <a:solidFill>
                  <a:srgbClr val="EAD9BD"/>
                </a:solidFill>
                <a:latin typeface="Garamond"/>
                <a:ea typeface="Garamond"/>
                <a:cs typeface="Garamond"/>
                <a:sym typeface="Garamond"/>
              </a:rPr>
              <a:t>a running activity log, and a clear banner reminding everyone the data is simulated.</a:t>
            </a:r>
            <a:endParaRPr sz="2600">
              <a:solidFill>
                <a:schemeClr val="dk1"/>
              </a:solidFill>
              <a:latin typeface="Garamond"/>
              <a:ea typeface="Garamond"/>
              <a:cs typeface="Garamond"/>
              <a:sym typeface="Garamond"/>
            </a:endParaRPr>
          </a:p>
        </p:txBody>
      </p:sp>
      <p:sp>
        <p:nvSpPr>
          <p:cNvPr id="247" name="Google Shape;247;g3e868c9b429_1_0"/>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248" name="Google Shape;248;g3e868c9b429_1_0"/>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253" name="Shape 253"/>
        <p:cNvGrpSpPr/>
        <p:nvPr/>
      </p:nvGrpSpPr>
      <p:grpSpPr>
        <a:xfrm>
          <a:off x="0" y="0"/>
          <a:ext cx="0" cy="0"/>
          <a:chOff x="0" y="0"/>
          <a:chExt cx="0" cy="0"/>
        </a:xfrm>
      </p:grpSpPr>
      <p:sp>
        <p:nvSpPr>
          <p:cNvPr id="254" name="Google Shape;254;g3e817c41732_0_5"/>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255" name="Google Shape;255;g3e817c41732_0_5"/>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256" name="Google Shape;256;g3e817c41732_0_5"/>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How the UI Works</a:t>
            </a:r>
            <a:endParaRPr sz="4700">
              <a:solidFill>
                <a:schemeClr val="dk1"/>
              </a:solidFill>
              <a:latin typeface="Calibri"/>
              <a:ea typeface="Calibri"/>
              <a:cs typeface="Calibri"/>
              <a:sym typeface="Calibri"/>
            </a:endParaRPr>
          </a:p>
        </p:txBody>
      </p:sp>
      <p:sp>
        <p:nvSpPr>
          <p:cNvPr id="257" name="Google Shape;257;g3e817c41732_0_5"/>
          <p:cNvSpPr/>
          <p:nvPr/>
        </p:nvSpPr>
        <p:spPr>
          <a:xfrm>
            <a:off x="685812" y="1550042"/>
            <a:ext cx="157734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B49A"/>
              </a:buClr>
              <a:buSzPts val="2000"/>
              <a:buFont typeface="Garamond"/>
              <a:buNone/>
            </a:pPr>
            <a:r>
              <a:rPr i="1" lang="en-US" sz="2500">
                <a:solidFill>
                  <a:srgbClr val="C6B49A"/>
                </a:solidFill>
                <a:latin typeface="Garamond"/>
                <a:ea typeface="Garamond"/>
                <a:cs typeface="Garamond"/>
                <a:sym typeface="Garamond"/>
              </a:rPr>
              <a:t>One coordinator runs three steps in order, passing what it learns down the line</a:t>
            </a:r>
            <a:endParaRPr sz="2500">
              <a:solidFill>
                <a:schemeClr val="dk1"/>
              </a:solidFill>
              <a:latin typeface="Calibri"/>
              <a:ea typeface="Calibri"/>
              <a:cs typeface="Calibri"/>
              <a:sym typeface="Calibri"/>
            </a:endParaRPr>
          </a:p>
        </p:txBody>
      </p:sp>
      <p:sp>
        <p:nvSpPr>
          <p:cNvPr id="258" name="Google Shape;258;g3e817c41732_0_5"/>
          <p:cNvSpPr/>
          <p:nvPr/>
        </p:nvSpPr>
        <p:spPr>
          <a:xfrm>
            <a:off x="685800" y="2194560"/>
            <a:ext cx="5253300" cy="43206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59" name="Google Shape;259;g3e817c41732_0_5"/>
          <p:cNvSpPr/>
          <p:nvPr/>
        </p:nvSpPr>
        <p:spPr>
          <a:xfrm>
            <a:off x="685800" y="2194560"/>
            <a:ext cx="52533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60" name="Google Shape;260;g3e817c41732_0_5"/>
          <p:cNvSpPr/>
          <p:nvPr/>
        </p:nvSpPr>
        <p:spPr>
          <a:xfrm>
            <a:off x="1014984" y="2578608"/>
            <a:ext cx="713400" cy="713400"/>
          </a:xfrm>
          <a:prstGeom prst="ellipse">
            <a:avLst/>
          </a:prstGeom>
          <a:solidFill>
            <a:srgbClr val="F5C784"/>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61" name="Google Shape;261;g3e817c41732_0_5"/>
          <p:cNvSpPr/>
          <p:nvPr/>
        </p:nvSpPr>
        <p:spPr>
          <a:xfrm>
            <a:off x="1014984" y="2578608"/>
            <a:ext cx="713400" cy="71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1A0E"/>
              </a:buClr>
              <a:buSzPts val="3100"/>
              <a:buFont typeface="Garamond"/>
              <a:buNone/>
            </a:pPr>
            <a:r>
              <a:rPr b="1" lang="en-US" sz="3100">
                <a:solidFill>
                  <a:srgbClr val="2C1A0E"/>
                </a:solidFill>
                <a:latin typeface="Garamond"/>
                <a:ea typeface="Garamond"/>
                <a:cs typeface="Garamond"/>
                <a:sym typeface="Garamond"/>
              </a:rPr>
              <a:t>1</a:t>
            </a:r>
            <a:endParaRPr sz="3100">
              <a:solidFill>
                <a:schemeClr val="dk1"/>
              </a:solidFill>
              <a:latin typeface="Calibri"/>
              <a:ea typeface="Calibri"/>
              <a:cs typeface="Calibri"/>
              <a:sym typeface="Calibri"/>
            </a:endParaRPr>
          </a:p>
        </p:txBody>
      </p:sp>
      <p:sp>
        <p:nvSpPr>
          <p:cNvPr id="262" name="Google Shape;262;g3e817c41732_0_5"/>
          <p:cNvSpPr/>
          <p:nvPr/>
        </p:nvSpPr>
        <p:spPr>
          <a:xfrm>
            <a:off x="1865376" y="2551176"/>
            <a:ext cx="3881700" cy="79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400"/>
              <a:buFont typeface="Garamond"/>
              <a:buNone/>
            </a:pPr>
            <a:r>
              <a:rPr b="1" lang="en-US" sz="3200">
                <a:solidFill>
                  <a:srgbClr val="2C1A0E"/>
                </a:solidFill>
                <a:latin typeface="Garamond"/>
                <a:ea typeface="Garamond"/>
                <a:cs typeface="Garamond"/>
                <a:sym typeface="Garamond"/>
              </a:rPr>
              <a:t>Manager readiness</a:t>
            </a:r>
            <a:endParaRPr b="1" sz="3200">
              <a:solidFill>
                <a:schemeClr val="dk1"/>
              </a:solidFill>
              <a:latin typeface="Calibri"/>
              <a:ea typeface="Calibri"/>
              <a:cs typeface="Calibri"/>
              <a:sym typeface="Calibri"/>
            </a:endParaRPr>
          </a:p>
        </p:txBody>
      </p:sp>
      <p:sp>
        <p:nvSpPr>
          <p:cNvPr id="263" name="Google Shape;263;g3e817c41732_0_5"/>
          <p:cNvSpPr/>
          <p:nvPr/>
        </p:nvSpPr>
        <p:spPr>
          <a:xfrm>
            <a:off x="1042416" y="3566160"/>
            <a:ext cx="4567500" cy="2880600"/>
          </a:xfrm>
          <a:prstGeom prst="rect">
            <a:avLst/>
          </a:prstGeom>
          <a:noFill/>
          <a:ln>
            <a:noFill/>
          </a:ln>
        </p:spPr>
        <p:txBody>
          <a:bodyPr anchorCtr="0" anchor="t" bIns="0" lIns="0" spcFirstLastPara="1" rIns="0" wrap="square" tIns="0">
            <a:noAutofit/>
          </a:bodyPr>
          <a:lstStyle/>
          <a:p>
            <a:pPr indent="-311150" lvl="0" marL="254000" marR="0" rtl="0" algn="l">
              <a:spcBef>
                <a:spcPts val="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Checks demand, stock and staffing</a:t>
            </a:r>
            <a:endParaRPr sz="2500">
              <a:solidFill>
                <a:schemeClr val="dk1"/>
              </a:solidFill>
              <a:latin typeface="Garamond"/>
              <a:ea typeface="Garamond"/>
              <a:cs typeface="Garamond"/>
              <a:sym typeface="Garamond"/>
            </a:endParaRPr>
          </a:p>
          <a:p>
            <a:pPr indent="-311150" lvl="0" marL="254000" marR="0" rtl="0" algn="l">
              <a:spcBef>
                <a:spcPts val="110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Pulls up the right playbook</a:t>
            </a:r>
            <a:endParaRPr sz="2500">
              <a:solidFill>
                <a:schemeClr val="dk1"/>
              </a:solidFill>
              <a:latin typeface="Garamond"/>
              <a:ea typeface="Garamond"/>
              <a:cs typeface="Garamond"/>
              <a:sym typeface="Garamond"/>
            </a:endParaRPr>
          </a:p>
          <a:p>
            <a:pPr indent="-311150" lvl="0" marL="254000" marR="0" rtl="0" algn="l">
              <a:spcBef>
                <a:spcPts val="110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Gives a clear go / no-go briefing</a:t>
            </a:r>
            <a:endParaRPr sz="2500">
              <a:solidFill>
                <a:schemeClr val="dk1"/>
              </a:solidFill>
              <a:latin typeface="Garamond"/>
              <a:ea typeface="Garamond"/>
              <a:cs typeface="Garamond"/>
              <a:sym typeface="Garamond"/>
            </a:endParaRPr>
          </a:p>
          <a:p>
            <a:pPr indent="-311150" lvl="0" marL="254000" marR="0" rtl="0" algn="l">
              <a:spcBef>
                <a:spcPts val="110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Flags low stock or short staffing</a:t>
            </a:r>
            <a:endParaRPr sz="2500">
              <a:solidFill>
                <a:schemeClr val="dk1"/>
              </a:solidFill>
              <a:latin typeface="Garamond"/>
              <a:ea typeface="Garamond"/>
              <a:cs typeface="Garamond"/>
              <a:sym typeface="Garamond"/>
            </a:endParaRPr>
          </a:p>
        </p:txBody>
      </p:sp>
      <p:sp>
        <p:nvSpPr>
          <p:cNvPr id="264" name="Google Shape;264;g3e817c41732_0_5"/>
          <p:cNvSpPr/>
          <p:nvPr/>
        </p:nvSpPr>
        <p:spPr>
          <a:xfrm>
            <a:off x="5925312" y="4121658"/>
            <a:ext cx="466200" cy="4662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265" name="Google Shape;265;g3e817c41732_0_5"/>
          <p:cNvPicPr preferRelativeResize="0"/>
          <p:nvPr/>
        </p:nvPicPr>
        <p:blipFill rotWithShape="1">
          <a:blip r:embed="rId4">
            <a:alphaModFix/>
          </a:blip>
          <a:srcRect b="0" l="0" r="0" t="0"/>
          <a:stretch/>
        </p:blipFill>
        <p:spPr>
          <a:xfrm>
            <a:off x="6037235" y="4233581"/>
            <a:ext cx="242499" cy="242499"/>
          </a:xfrm>
          <a:prstGeom prst="rect">
            <a:avLst/>
          </a:prstGeom>
          <a:noFill/>
          <a:ln>
            <a:noFill/>
          </a:ln>
        </p:spPr>
      </p:pic>
      <p:sp>
        <p:nvSpPr>
          <p:cNvPr id="266" name="Google Shape;266;g3e817c41732_0_5"/>
          <p:cNvSpPr/>
          <p:nvPr/>
        </p:nvSpPr>
        <p:spPr>
          <a:xfrm>
            <a:off x="6377940" y="2194560"/>
            <a:ext cx="5253300" cy="43206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67" name="Google Shape;267;g3e817c41732_0_5"/>
          <p:cNvSpPr/>
          <p:nvPr/>
        </p:nvSpPr>
        <p:spPr>
          <a:xfrm>
            <a:off x="6377940" y="2194560"/>
            <a:ext cx="52533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68" name="Google Shape;268;g3e817c41732_0_5"/>
          <p:cNvSpPr/>
          <p:nvPr/>
        </p:nvSpPr>
        <p:spPr>
          <a:xfrm>
            <a:off x="6707124" y="2578608"/>
            <a:ext cx="713400" cy="713400"/>
          </a:xfrm>
          <a:prstGeom prst="ellipse">
            <a:avLst/>
          </a:prstGeom>
          <a:solidFill>
            <a:srgbClr val="F5C784"/>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69" name="Google Shape;269;g3e817c41732_0_5"/>
          <p:cNvSpPr/>
          <p:nvPr/>
        </p:nvSpPr>
        <p:spPr>
          <a:xfrm>
            <a:off x="6707124" y="2578608"/>
            <a:ext cx="713400" cy="71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1A0E"/>
              </a:buClr>
              <a:buSzPts val="3100"/>
              <a:buFont typeface="Garamond"/>
              <a:buNone/>
            </a:pPr>
            <a:r>
              <a:rPr b="1" lang="en-US" sz="3100">
                <a:solidFill>
                  <a:srgbClr val="2C1A0E"/>
                </a:solidFill>
                <a:latin typeface="Garamond"/>
                <a:ea typeface="Garamond"/>
                <a:cs typeface="Garamond"/>
                <a:sym typeface="Garamond"/>
              </a:rPr>
              <a:t>2</a:t>
            </a:r>
            <a:endParaRPr sz="3100">
              <a:solidFill>
                <a:schemeClr val="dk1"/>
              </a:solidFill>
              <a:latin typeface="Calibri"/>
              <a:ea typeface="Calibri"/>
              <a:cs typeface="Calibri"/>
              <a:sym typeface="Calibri"/>
            </a:endParaRPr>
          </a:p>
        </p:txBody>
      </p:sp>
      <p:sp>
        <p:nvSpPr>
          <p:cNvPr id="270" name="Google Shape;270;g3e817c41732_0_5"/>
          <p:cNvSpPr/>
          <p:nvPr/>
        </p:nvSpPr>
        <p:spPr>
          <a:xfrm>
            <a:off x="7557516" y="2551176"/>
            <a:ext cx="3881700" cy="79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400"/>
              <a:buFont typeface="Garamond"/>
              <a:buNone/>
            </a:pPr>
            <a:r>
              <a:rPr b="1" lang="en-US" sz="3000">
                <a:solidFill>
                  <a:srgbClr val="2C1A0E"/>
                </a:solidFill>
                <a:latin typeface="Garamond"/>
                <a:ea typeface="Garamond"/>
                <a:cs typeface="Garamond"/>
                <a:sym typeface="Garamond"/>
              </a:rPr>
              <a:t>Drink recommendation</a:t>
            </a:r>
            <a:endParaRPr sz="3000">
              <a:solidFill>
                <a:schemeClr val="dk1"/>
              </a:solidFill>
              <a:latin typeface="Calibri"/>
              <a:ea typeface="Calibri"/>
              <a:cs typeface="Calibri"/>
              <a:sym typeface="Calibri"/>
            </a:endParaRPr>
          </a:p>
        </p:txBody>
      </p:sp>
      <p:sp>
        <p:nvSpPr>
          <p:cNvPr id="271" name="Google Shape;271;g3e817c41732_0_5"/>
          <p:cNvSpPr/>
          <p:nvPr/>
        </p:nvSpPr>
        <p:spPr>
          <a:xfrm>
            <a:off x="6734556" y="3566160"/>
            <a:ext cx="4567500" cy="2880600"/>
          </a:xfrm>
          <a:prstGeom prst="rect">
            <a:avLst/>
          </a:prstGeom>
          <a:noFill/>
          <a:ln>
            <a:noFill/>
          </a:ln>
        </p:spPr>
        <p:txBody>
          <a:bodyPr anchorCtr="0" anchor="t" bIns="0" lIns="0" spcFirstLastPara="1" rIns="0" wrap="square" tIns="0">
            <a:noAutofit/>
          </a:bodyPr>
          <a:lstStyle/>
          <a:p>
            <a:pPr indent="-311150" lvl="0" marL="254000" marR="0" rtl="0" algn="l">
              <a:spcBef>
                <a:spcPts val="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Barista types the request in plain words</a:t>
            </a:r>
            <a:endParaRPr sz="2500">
              <a:solidFill>
                <a:schemeClr val="dk1"/>
              </a:solidFill>
              <a:latin typeface="Garamond"/>
              <a:ea typeface="Garamond"/>
              <a:cs typeface="Garamond"/>
              <a:sym typeface="Garamond"/>
            </a:endParaRPr>
          </a:p>
          <a:p>
            <a:pPr indent="-311150" lvl="0" marL="254000" marR="0" rtl="0" algn="l">
              <a:spcBef>
                <a:spcPts val="110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Suggests in-stock drinks that fit</a:t>
            </a:r>
            <a:endParaRPr sz="2500">
              <a:solidFill>
                <a:schemeClr val="dk1"/>
              </a:solidFill>
              <a:latin typeface="Garamond"/>
              <a:ea typeface="Garamond"/>
              <a:cs typeface="Garamond"/>
              <a:sym typeface="Garamond"/>
            </a:endParaRPr>
          </a:p>
          <a:p>
            <a:pPr indent="-311150" lvl="0" marL="254000" marR="0" rtl="0" algn="l">
              <a:spcBef>
                <a:spcPts val="110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Explains the pick, offers a backup</a:t>
            </a:r>
            <a:endParaRPr sz="2500">
              <a:solidFill>
                <a:schemeClr val="dk1"/>
              </a:solidFill>
              <a:latin typeface="Garamond"/>
              <a:ea typeface="Garamond"/>
              <a:cs typeface="Garamond"/>
              <a:sym typeface="Garamond"/>
            </a:endParaRPr>
          </a:p>
          <a:p>
            <a:pPr indent="-311150" lvl="0" marL="254000" marR="0" rtl="0" algn="l">
              <a:spcBef>
                <a:spcPts val="110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A barista confirms before the customer</a:t>
            </a:r>
            <a:endParaRPr sz="2500">
              <a:solidFill>
                <a:schemeClr val="dk1"/>
              </a:solidFill>
              <a:latin typeface="Garamond"/>
              <a:ea typeface="Garamond"/>
              <a:cs typeface="Garamond"/>
              <a:sym typeface="Garamond"/>
            </a:endParaRPr>
          </a:p>
        </p:txBody>
      </p:sp>
      <p:sp>
        <p:nvSpPr>
          <p:cNvPr id="272" name="Google Shape;272;g3e817c41732_0_5"/>
          <p:cNvSpPr/>
          <p:nvPr/>
        </p:nvSpPr>
        <p:spPr>
          <a:xfrm>
            <a:off x="11617452" y="4121658"/>
            <a:ext cx="466200" cy="4662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273" name="Google Shape;273;g3e817c41732_0_5"/>
          <p:cNvPicPr preferRelativeResize="0"/>
          <p:nvPr/>
        </p:nvPicPr>
        <p:blipFill rotWithShape="1">
          <a:blip r:embed="rId4">
            <a:alphaModFix/>
          </a:blip>
          <a:srcRect b="0" l="0" r="0" t="0"/>
          <a:stretch/>
        </p:blipFill>
        <p:spPr>
          <a:xfrm>
            <a:off x="11729375" y="4233581"/>
            <a:ext cx="242499" cy="242499"/>
          </a:xfrm>
          <a:prstGeom prst="rect">
            <a:avLst/>
          </a:prstGeom>
          <a:noFill/>
          <a:ln>
            <a:noFill/>
          </a:ln>
        </p:spPr>
      </p:pic>
      <p:sp>
        <p:nvSpPr>
          <p:cNvPr id="274" name="Google Shape;274;g3e817c41732_0_5"/>
          <p:cNvSpPr/>
          <p:nvPr/>
        </p:nvSpPr>
        <p:spPr>
          <a:xfrm>
            <a:off x="12070080" y="2194560"/>
            <a:ext cx="5253300" cy="43206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75" name="Google Shape;275;g3e817c41732_0_5"/>
          <p:cNvSpPr/>
          <p:nvPr/>
        </p:nvSpPr>
        <p:spPr>
          <a:xfrm>
            <a:off x="12070080" y="2194560"/>
            <a:ext cx="52533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76" name="Google Shape;276;g3e817c41732_0_5"/>
          <p:cNvSpPr/>
          <p:nvPr/>
        </p:nvSpPr>
        <p:spPr>
          <a:xfrm>
            <a:off x="12399264" y="2578608"/>
            <a:ext cx="713400" cy="713400"/>
          </a:xfrm>
          <a:prstGeom prst="ellipse">
            <a:avLst/>
          </a:prstGeom>
          <a:solidFill>
            <a:srgbClr val="F5C784"/>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77" name="Google Shape;277;g3e817c41732_0_5"/>
          <p:cNvSpPr/>
          <p:nvPr/>
        </p:nvSpPr>
        <p:spPr>
          <a:xfrm>
            <a:off x="12399264" y="2578608"/>
            <a:ext cx="713400" cy="71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1A0E"/>
              </a:buClr>
              <a:buSzPts val="3100"/>
              <a:buFont typeface="Garamond"/>
              <a:buNone/>
            </a:pPr>
            <a:r>
              <a:rPr b="1" lang="en-US" sz="3100">
                <a:solidFill>
                  <a:srgbClr val="2C1A0E"/>
                </a:solidFill>
                <a:latin typeface="Garamond"/>
                <a:ea typeface="Garamond"/>
                <a:cs typeface="Garamond"/>
                <a:sym typeface="Garamond"/>
              </a:rPr>
              <a:t>3</a:t>
            </a:r>
            <a:endParaRPr sz="3100">
              <a:solidFill>
                <a:schemeClr val="dk1"/>
              </a:solidFill>
              <a:latin typeface="Calibri"/>
              <a:ea typeface="Calibri"/>
              <a:cs typeface="Calibri"/>
              <a:sym typeface="Calibri"/>
            </a:endParaRPr>
          </a:p>
        </p:txBody>
      </p:sp>
      <p:sp>
        <p:nvSpPr>
          <p:cNvPr id="278" name="Google Shape;278;g3e817c41732_0_5"/>
          <p:cNvSpPr/>
          <p:nvPr/>
        </p:nvSpPr>
        <p:spPr>
          <a:xfrm>
            <a:off x="13249656" y="2551176"/>
            <a:ext cx="3881700" cy="79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400"/>
              <a:buFont typeface="Garamond"/>
              <a:buNone/>
            </a:pPr>
            <a:r>
              <a:rPr b="1" lang="en-US" sz="3200">
                <a:solidFill>
                  <a:srgbClr val="2C1A0E"/>
                </a:solidFill>
                <a:latin typeface="Garamond"/>
                <a:ea typeface="Garamond"/>
                <a:cs typeface="Garamond"/>
                <a:sym typeface="Garamond"/>
              </a:rPr>
              <a:t>Order taking</a:t>
            </a:r>
            <a:endParaRPr sz="3200">
              <a:solidFill>
                <a:schemeClr val="dk1"/>
              </a:solidFill>
              <a:latin typeface="Calibri"/>
              <a:ea typeface="Calibri"/>
              <a:cs typeface="Calibri"/>
              <a:sym typeface="Calibri"/>
            </a:endParaRPr>
          </a:p>
        </p:txBody>
      </p:sp>
      <p:sp>
        <p:nvSpPr>
          <p:cNvPr id="279" name="Google Shape;279;g3e817c41732_0_5"/>
          <p:cNvSpPr/>
          <p:nvPr/>
        </p:nvSpPr>
        <p:spPr>
          <a:xfrm>
            <a:off x="12426696" y="3566160"/>
            <a:ext cx="4567500" cy="2880600"/>
          </a:xfrm>
          <a:prstGeom prst="rect">
            <a:avLst/>
          </a:prstGeom>
          <a:noFill/>
          <a:ln>
            <a:noFill/>
          </a:ln>
        </p:spPr>
        <p:txBody>
          <a:bodyPr anchorCtr="0" anchor="t" bIns="0" lIns="0" spcFirstLastPara="1" rIns="0" wrap="square" tIns="0">
            <a:noAutofit/>
          </a:bodyPr>
          <a:lstStyle/>
          <a:p>
            <a:pPr indent="-311150" lvl="0" marL="254000" marR="0" rtl="0" algn="l">
              <a:spcBef>
                <a:spcPts val="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Reads the spoken-style order</a:t>
            </a:r>
            <a:endParaRPr sz="2500">
              <a:solidFill>
                <a:schemeClr val="dk1"/>
              </a:solidFill>
              <a:latin typeface="Garamond"/>
              <a:ea typeface="Garamond"/>
              <a:cs typeface="Garamond"/>
              <a:sym typeface="Garamond"/>
            </a:endParaRPr>
          </a:p>
          <a:p>
            <a:pPr indent="-311150" lvl="0" marL="254000" marR="0" rtl="0" algn="l">
              <a:spcBef>
                <a:spcPts val="110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Matches the item, checks ingredients</a:t>
            </a:r>
            <a:endParaRPr sz="2500">
              <a:solidFill>
                <a:schemeClr val="dk1"/>
              </a:solidFill>
              <a:latin typeface="Garamond"/>
              <a:ea typeface="Garamond"/>
              <a:cs typeface="Garamond"/>
              <a:sym typeface="Garamond"/>
            </a:endParaRPr>
          </a:p>
          <a:p>
            <a:pPr indent="-311150" lvl="0" marL="254000" marR="0" rtl="0" algn="l">
              <a:spcBef>
                <a:spcPts val="110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Asks about anything unclear</a:t>
            </a:r>
            <a:endParaRPr sz="2500">
              <a:solidFill>
                <a:schemeClr val="dk1"/>
              </a:solidFill>
              <a:latin typeface="Garamond"/>
              <a:ea typeface="Garamond"/>
              <a:cs typeface="Garamond"/>
              <a:sym typeface="Garamond"/>
            </a:endParaRPr>
          </a:p>
          <a:p>
            <a:pPr indent="-311150" lvl="0" marL="254000" marR="0" rtl="0" algn="l">
              <a:spcBef>
                <a:spcPts val="1100"/>
              </a:spcBef>
              <a:spcAft>
                <a:spcPts val="0"/>
              </a:spcAft>
              <a:buClr>
                <a:srgbClr val="5E4A35"/>
              </a:buClr>
              <a:buSzPts val="2500"/>
              <a:buFont typeface="Garamond"/>
              <a:buChar char="•"/>
            </a:pPr>
            <a:r>
              <a:rPr lang="en-US" sz="2500">
                <a:solidFill>
                  <a:srgbClr val="5E4A35"/>
                </a:solidFill>
                <a:latin typeface="Garamond"/>
                <a:ea typeface="Garamond"/>
                <a:cs typeface="Garamond"/>
                <a:sym typeface="Garamond"/>
              </a:rPr>
              <a:t>Sends allergy notes to trained staff</a:t>
            </a:r>
            <a:endParaRPr sz="2500">
              <a:solidFill>
                <a:schemeClr val="dk1"/>
              </a:solidFill>
              <a:latin typeface="Garamond"/>
              <a:ea typeface="Garamond"/>
              <a:cs typeface="Garamond"/>
              <a:sym typeface="Garamond"/>
            </a:endParaRPr>
          </a:p>
        </p:txBody>
      </p:sp>
      <p:sp>
        <p:nvSpPr>
          <p:cNvPr id="280" name="Google Shape;280;g3e817c41732_0_5"/>
          <p:cNvSpPr/>
          <p:nvPr/>
        </p:nvSpPr>
        <p:spPr>
          <a:xfrm>
            <a:off x="685800" y="6789420"/>
            <a:ext cx="16911900" cy="1069800"/>
          </a:xfrm>
          <a:prstGeom prst="rect">
            <a:avLst/>
          </a:prstGeom>
          <a:solidFill>
            <a:srgbClr val="2C1A0E"/>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81" name="Google Shape;281;g3e817c41732_0_5"/>
          <p:cNvSpPr/>
          <p:nvPr/>
        </p:nvSpPr>
        <p:spPr>
          <a:xfrm>
            <a:off x="1069848" y="6789420"/>
            <a:ext cx="16184700" cy="10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2000"/>
              <a:buFont typeface="Garamond"/>
              <a:buNone/>
            </a:pPr>
            <a:r>
              <a:rPr b="1" i="1" lang="en-US" sz="2500">
                <a:solidFill>
                  <a:srgbClr val="F5C784"/>
                </a:solidFill>
                <a:latin typeface="Garamond"/>
                <a:ea typeface="Garamond"/>
                <a:cs typeface="Garamond"/>
                <a:sym typeface="Garamond"/>
              </a:rPr>
              <a:t>Every run hands the team:  </a:t>
            </a:r>
            <a:r>
              <a:rPr lang="en-US" sz="2500">
                <a:solidFill>
                  <a:srgbClr val="EAD9BD"/>
                </a:solidFill>
                <a:latin typeface="Garamond"/>
                <a:ea typeface="Garamond"/>
                <a:cs typeface="Garamond"/>
                <a:sym typeface="Garamond"/>
              </a:rPr>
              <a:t>a plain-English result,  the evidence behind it,  anything that needs approval,  and a full activity log.</a:t>
            </a:r>
            <a:endParaRPr sz="2500">
              <a:solidFill>
                <a:schemeClr val="dk1"/>
              </a:solidFill>
              <a:latin typeface="Garamond"/>
              <a:ea typeface="Garamond"/>
              <a:cs typeface="Garamond"/>
              <a:sym typeface="Garamond"/>
            </a:endParaRPr>
          </a:p>
        </p:txBody>
      </p:sp>
      <p:sp>
        <p:nvSpPr>
          <p:cNvPr id="282" name="Google Shape;282;g3e817c41732_0_5"/>
          <p:cNvSpPr/>
          <p:nvPr/>
        </p:nvSpPr>
        <p:spPr>
          <a:xfrm>
            <a:off x="685800" y="8051292"/>
            <a:ext cx="16911900" cy="1069800"/>
          </a:xfrm>
          <a:prstGeom prst="rect">
            <a:avLst/>
          </a:prstGeom>
          <a:solidFill>
            <a:srgbClr val="2C1A0E"/>
          </a:solidFill>
          <a:ln cap="flat" cmpd="sng" w="28575">
            <a:solidFill>
              <a:srgbClr val="B8504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283" name="Google Shape;283;g3e817c41732_0_5"/>
          <p:cNvSpPr/>
          <p:nvPr/>
        </p:nvSpPr>
        <p:spPr>
          <a:xfrm>
            <a:off x="987552" y="8270748"/>
            <a:ext cx="630900" cy="630900"/>
          </a:xfrm>
          <a:prstGeom prst="ellipse">
            <a:avLst/>
          </a:prstGeom>
          <a:solidFill>
            <a:srgbClr val="B85042"/>
          </a:solidFill>
          <a:ln cap="flat" cmpd="sng" w="19050">
            <a:solidFill>
              <a:srgbClr val="B8504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284" name="Google Shape;284;g3e817c41732_0_5"/>
          <p:cNvPicPr preferRelativeResize="0"/>
          <p:nvPr/>
        </p:nvPicPr>
        <p:blipFill rotWithShape="1">
          <a:blip r:embed="rId5">
            <a:alphaModFix/>
          </a:blip>
          <a:srcRect b="0" l="0" r="0" t="0"/>
          <a:stretch/>
        </p:blipFill>
        <p:spPr>
          <a:xfrm>
            <a:off x="1138977" y="8422173"/>
            <a:ext cx="328086" cy="328086"/>
          </a:xfrm>
          <a:prstGeom prst="rect">
            <a:avLst/>
          </a:prstGeom>
          <a:noFill/>
          <a:ln>
            <a:noFill/>
          </a:ln>
        </p:spPr>
      </p:pic>
      <p:sp>
        <p:nvSpPr>
          <p:cNvPr id="285" name="Google Shape;285;g3e817c41732_0_5"/>
          <p:cNvSpPr/>
          <p:nvPr/>
        </p:nvSpPr>
        <p:spPr>
          <a:xfrm>
            <a:off x="1810512" y="8051292"/>
            <a:ext cx="15498900" cy="106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2000"/>
              <a:buFont typeface="Garamond"/>
              <a:buNone/>
            </a:pPr>
            <a:r>
              <a:rPr b="1" lang="en-US" sz="2200">
                <a:solidFill>
                  <a:srgbClr val="B85042"/>
                </a:solidFill>
                <a:latin typeface="Garamond"/>
                <a:ea typeface="Garamond"/>
                <a:cs typeface="Garamond"/>
                <a:sym typeface="Garamond"/>
              </a:rPr>
              <a:t>Allergy safeguard:  </a:t>
            </a:r>
            <a:r>
              <a:rPr lang="en-US" sz="2200">
                <a:solidFill>
                  <a:srgbClr val="EAD9BD"/>
                </a:solidFill>
                <a:latin typeface="Garamond"/>
                <a:ea typeface="Garamond"/>
                <a:cs typeface="Garamond"/>
                <a:sym typeface="Garamond"/>
              </a:rPr>
              <a:t>any allergy or dietary wording sends the order to trained staff — automatically, every time, and it can’t be switched off.</a:t>
            </a:r>
            <a:endParaRPr sz="2200">
              <a:solidFill>
                <a:schemeClr val="dk1"/>
              </a:solidFill>
              <a:latin typeface="Garamond"/>
              <a:ea typeface="Garamond"/>
              <a:cs typeface="Garamond"/>
              <a:sym typeface="Garamond"/>
            </a:endParaRPr>
          </a:p>
        </p:txBody>
      </p:sp>
      <p:sp>
        <p:nvSpPr>
          <p:cNvPr id="286" name="Google Shape;286;g3e817c41732_0_5"/>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287" name="Google Shape;287;g3e817c41732_0_5"/>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292" name="Shape 292"/>
        <p:cNvGrpSpPr/>
        <p:nvPr/>
      </p:nvGrpSpPr>
      <p:grpSpPr>
        <a:xfrm>
          <a:off x="0" y="0"/>
          <a:ext cx="0" cy="0"/>
          <a:chOff x="0" y="0"/>
          <a:chExt cx="0" cy="0"/>
        </a:xfrm>
      </p:grpSpPr>
      <p:sp>
        <p:nvSpPr>
          <p:cNvPr id="293" name="Google Shape;293;g3e868c9b429_1_48"/>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294" name="Google Shape;294;g3e868c9b429_1_48"/>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295" name="Google Shape;295;g3e868c9b429_1_48"/>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Live Demo</a:t>
            </a:r>
            <a:endParaRPr sz="4700">
              <a:solidFill>
                <a:schemeClr val="dk1"/>
              </a:solidFill>
              <a:latin typeface="Calibri"/>
              <a:ea typeface="Calibri"/>
              <a:cs typeface="Calibri"/>
              <a:sym typeface="Calibri"/>
            </a:endParaRPr>
          </a:p>
        </p:txBody>
      </p:sp>
      <p:sp>
        <p:nvSpPr>
          <p:cNvPr id="296" name="Google Shape;296;g3e868c9b429_1_48"/>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297" name="Google Shape;297;g3e868c9b429_1_48"/>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pic>
        <p:nvPicPr>
          <p:cNvPr id="298" name="Google Shape;298;g3e868c9b429_1_48"/>
          <p:cNvPicPr preferRelativeResize="0"/>
          <p:nvPr/>
        </p:nvPicPr>
        <p:blipFill>
          <a:blip r:embed="rId4">
            <a:alphaModFix/>
          </a:blip>
          <a:stretch>
            <a:fillRect/>
          </a:stretch>
        </p:blipFill>
        <p:spPr>
          <a:xfrm>
            <a:off x="2325975" y="1364738"/>
            <a:ext cx="13636086" cy="7743562"/>
          </a:xfrm>
          <a:prstGeom prst="rect">
            <a:avLst/>
          </a:prstGeom>
          <a:noFill/>
          <a:ln>
            <a:noFill/>
          </a:ln>
        </p:spPr>
      </p:pic>
      <p:sp>
        <p:nvSpPr>
          <p:cNvPr id="299" name="Google Shape;299;g3e868c9b429_1_48"/>
          <p:cNvSpPr/>
          <p:nvPr/>
        </p:nvSpPr>
        <p:spPr>
          <a:xfrm>
            <a:off x="1257312" y="9180005"/>
            <a:ext cx="15773400" cy="57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B49A"/>
              </a:buClr>
              <a:buSzPts val="2000"/>
              <a:buFont typeface="Garamond"/>
              <a:buNone/>
            </a:pPr>
            <a:r>
              <a:rPr i="1" lang="en-US" sz="2600">
                <a:solidFill>
                  <a:srgbClr val="C6B49A"/>
                </a:solidFill>
                <a:latin typeface="Garamond"/>
                <a:ea typeface="Garamond"/>
                <a:cs typeface="Garamond"/>
                <a:sym typeface="Garamond"/>
              </a:rPr>
              <a:t>Open milestone 4 directory in terminal and then run </a:t>
            </a:r>
            <a:r>
              <a:rPr b="1" lang="en-US" sz="2600" u="sng">
                <a:solidFill>
                  <a:srgbClr val="C6B49A"/>
                </a:solidFill>
                <a:latin typeface="Garamond"/>
                <a:ea typeface="Garamond"/>
                <a:cs typeface="Garamond"/>
                <a:sym typeface="Garamond"/>
              </a:rPr>
              <a:t>uv run python ui/app.py </a:t>
            </a:r>
            <a:r>
              <a:rPr i="1" lang="en-US" sz="2600">
                <a:solidFill>
                  <a:srgbClr val="C6B49A"/>
                </a:solidFill>
                <a:latin typeface="Garamond"/>
                <a:ea typeface="Garamond"/>
                <a:cs typeface="Garamond"/>
                <a:sym typeface="Garamond"/>
              </a:rPr>
              <a:t>to access live demo</a:t>
            </a:r>
            <a:endParaRPr i="1" sz="2600">
              <a:solidFill>
                <a:schemeClr val="dk1"/>
              </a:solidFill>
              <a:latin typeface="Garamond"/>
              <a:ea typeface="Garamond"/>
              <a:cs typeface="Garamond"/>
              <a:sym typeface="Garamo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304" name="Shape 304"/>
        <p:cNvGrpSpPr/>
        <p:nvPr/>
      </p:nvGrpSpPr>
      <p:grpSpPr>
        <a:xfrm>
          <a:off x="0" y="0"/>
          <a:ext cx="0" cy="0"/>
          <a:chOff x="0" y="0"/>
          <a:chExt cx="0" cy="0"/>
        </a:xfrm>
      </p:grpSpPr>
      <p:sp>
        <p:nvSpPr>
          <p:cNvPr id="305" name="Google Shape;305;g3e868c9b429_1_59"/>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306" name="Google Shape;306;g3e868c9b429_1_59"/>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307" name="Google Shape;307;g3e868c9b429_1_59"/>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Humans Stay in Control</a:t>
            </a:r>
            <a:endParaRPr sz="4700">
              <a:solidFill>
                <a:schemeClr val="dk1"/>
              </a:solidFill>
              <a:latin typeface="Calibri"/>
              <a:ea typeface="Calibri"/>
              <a:cs typeface="Calibri"/>
              <a:sym typeface="Calibri"/>
            </a:endParaRPr>
          </a:p>
        </p:txBody>
      </p:sp>
      <p:sp>
        <p:nvSpPr>
          <p:cNvPr id="308" name="Google Shape;308;g3e868c9b429_1_59"/>
          <p:cNvSpPr/>
          <p:nvPr/>
        </p:nvSpPr>
        <p:spPr>
          <a:xfrm>
            <a:off x="1810512" y="1536192"/>
            <a:ext cx="157734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B49A"/>
              </a:buClr>
              <a:buSzPts val="2000"/>
              <a:buFont typeface="Garamond"/>
              <a:buNone/>
            </a:pPr>
            <a:r>
              <a:rPr i="1" lang="en-US" sz="2000">
                <a:solidFill>
                  <a:srgbClr val="C6B49A"/>
                </a:solidFill>
                <a:latin typeface="Garamond"/>
                <a:ea typeface="Garamond"/>
                <a:cs typeface="Garamond"/>
                <a:sym typeface="Garamond"/>
              </a:rPr>
              <a:t>Seven points where a person must approve before the workflow goes on</a:t>
            </a:r>
            <a:endParaRPr sz="2000">
              <a:solidFill>
                <a:schemeClr val="dk1"/>
              </a:solidFill>
              <a:latin typeface="Calibri"/>
              <a:ea typeface="Calibri"/>
              <a:cs typeface="Calibri"/>
              <a:sym typeface="Calibri"/>
            </a:endParaRPr>
          </a:p>
        </p:txBody>
      </p:sp>
      <p:graphicFrame>
        <p:nvGraphicFramePr>
          <p:cNvPr id="309" name="Google Shape;309;g3e868c9b429_1_59"/>
          <p:cNvGraphicFramePr/>
          <p:nvPr/>
        </p:nvGraphicFramePr>
        <p:xfrm>
          <a:off x="685800" y="2221992"/>
          <a:ext cx="3000000" cy="3000000"/>
        </p:xfrm>
        <a:graphic>
          <a:graphicData uri="http://schemas.openxmlformats.org/drawingml/2006/table">
            <a:tbl>
              <a:tblPr>
                <a:noFill/>
                <a:tableStyleId>{8FE5CE00-8E91-4903-B5BB-D88EA2FC722F}</a:tableStyleId>
              </a:tblPr>
              <a:tblGrid>
                <a:gridCol w="5623575"/>
                <a:gridCol w="6720825"/>
              </a:tblGrid>
              <a:tr h="844425">
                <a:tc>
                  <a:txBody>
                    <a:bodyPr/>
                    <a:lstStyle/>
                    <a:p>
                      <a:pPr indent="0" lvl="0" marL="0" marR="0" rtl="0" algn="l">
                        <a:spcBef>
                          <a:spcPts val="0"/>
                        </a:spcBef>
                        <a:spcAft>
                          <a:spcPts val="0"/>
                        </a:spcAft>
                        <a:buClr>
                          <a:srgbClr val="F5C784"/>
                        </a:buClr>
                        <a:buSzPts val="1700"/>
                        <a:buFont typeface="Garamond"/>
                        <a:buNone/>
                      </a:pPr>
                      <a:r>
                        <a:rPr b="1" lang="en-US" sz="2700" u="none" cap="none" strike="noStrike">
                          <a:solidFill>
                            <a:srgbClr val="F5C784"/>
                          </a:solidFill>
                          <a:latin typeface="Garamond"/>
                          <a:ea typeface="Garamond"/>
                          <a:cs typeface="Garamond"/>
                          <a:sym typeface="Garamond"/>
                        </a:rPr>
                        <a:t>When</a:t>
                      </a:r>
                      <a:endParaRPr sz="27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c>
                  <a:txBody>
                    <a:bodyPr/>
                    <a:lstStyle/>
                    <a:p>
                      <a:pPr indent="0" lvl="0" marL="0" marR="0" rtl="0" algn="l">
                        <a:spcBef>
                          <a:spcPts val="0"/>
                        </a:spcBef>
                        <a:spcAft>
                          <a:spcPts val="0"/>
                        </a:spcAft>
                        <a:buClr>
                          <a:srgbClr val="F5C784"/>
                        </a:buClr>
                        <a:buSzPts val="1700"/>
                        <a:buFont typeface="Garamond"/>
                        <a:buNone/>
                      </a:pPr>
                      <a:r>
                        <a:rPr b="1" lang="en-US" sz="2700" u="none" cap="none" strike="noStrike">
                          <a:solidFill>
                            <a:srgbClr val="F5C784"/>
                          </a:solidFill>
                          <a:latin typeface="Garamond"/>
                          <a:ea typeface="Garamond"/>
                          <a:cs typeface="Garamond"/>
                          <a:sym typeface="Garamond"/>
                        </a:rPr>
                        <a:t>What a person does</a:t>
                      </a:r>
                      <a:endParaRPr sz="27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r>
              <a:tr h="844425">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Critical stock at open</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Manager confirms whether to open the shift</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r>
              <a:tr h="844425">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Short staffing</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Manager approves cover or calls people in</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r>
              <a:tr h="844425">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Before a recommendation reaches a customer</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3E4CC"/>
                    </a:solidFill>
                  </a:tcPr>
                </a:tc>
                <a:tc>
                  <a:txBody>
                    <a:bodyPr/>
                    <a:lstStyle/>
                    <a:p>
                      <a:pPr indent="0" lvl="0" marL="0" marR="0" rtl="0" algn="l">
                        <a:spcBef>
                          <a:spcPts val="0"/>
                        </a:spcBef>
                        <a:spcAft>
                          <a:spcPts val="0"/>
                        </a:spcAft>
                        <a:buClr>
                          <a:srgbClr val="2C1A0E"/>
                        </a:buClr>
                        <a:buSzPts val="1700"/>
                        <a:buFont typeface="Calibri"/>
                        <a:buNone/>
                      </a:pPr>
                      <a:r>
                        <a:rPr b="1" lang="en-US" sz="2100" u="none" cap="none" strike="noStrike">
                          <a:solidFill>
                            <a:srgbClr val="2C1A0E"/>
                          </a:solidFill>
                          <a:latin typeface="Garamond"/>
                          <a:ea typeface="Garamond"/>
                          <a:cs typeface="Garamond"/>
                          <a:sym typeface="Garamond"/>
                        </a:rPr>
                        <a:t>Barista reviews and confirms it   ★ must approve</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3E4CC"/>
                    </a:solidFill>
                  </a:tcPr>
                </a:tc>
              </a:tr>
              <a:tr h="844425">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Order details missing</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Barista checks with the customer first</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r>
              <a:tr h="844425">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Allergy wording detected</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3E4CC"/>
                    </a:solidFill>
                  </a:tcPr>
                </a:tc>
                <a:tc>
                  <a:txBody>
                    <a:bodyPr/>
                    <a:lstStyle/>
                    <a:p>
                      <a:pPr indent="0" lvl="0" marL="0" marR="0" rtl="0" algn="l">
                        <a:spcBef>
                          <a:spcPts val="0"/>
                        </a:spcBef>
                        <a:spcAft>
                          <a:spcPts val="0"/>
                        </a:spcAft>
                        <a:buClr>
                          <a:srgbClr val="2C1A0E"/>
                        </a:buClr>
                        <a:buSzPts val="1700"/>
                        <a:buFont typeface="Calibri"/>
                        <a:buNone/>
                      </a:pPr>
                      <a:r>
                        <a:rPr b="1" lang="en-US" sz="2100" u="none" cap="none" strike="noStrike">
                          <a:solidFill>
                            <a:srgbClr val="2C1A0E"/>
                          </a:solidFill>
                          <a:latin typeface="Garamond"/>
                          <a:ea typeface="Garamond"/>
                          <a:cs typeface="Garamond"/>
                          <a:sym typeface="Garamond"/>
                        </a:rPr>
                        <a:t>Trained staff reviews; escalate if needed   ★ must approve</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3E4CC"/>
                    </a:solidFill>
                  </a:tcPr>
                </a:tc>
              </a:tr>
              <a:tr h="844425">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Before prep starts</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Barista confirms the summary matches the order</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r>
              <a:tr h="844425">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A result looks doubtful</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c>
                  <a:txBody>
                    <a:bodyPr/>
                    <a:lstStyle/>
                    <a:p>
                      <a:pPr indent="0" lvl="0" marL="0" marR="0" rtl="0" algn="l">
                        <a:spcBef>
                          <a:spcPts val="0"/>
                        </a:spcBef>
                        <a:spcAft>
                          <a:spcPts val="0"/>
                        </a:spcAft>
                        <a:buClr>
                          <a:srgbClr val="2C1A0E"/>
                        </a:buClr>
                        <a:buSzPts val="1700"/>
                        <a:buFont typeface="Calibri"/>
                        <a:buNone/>
                      </a:pPr>
                      <a:r>
                        <a:rPr lang="en-US" sz="2100" u="none" cap="none" strike="noStrike">
                          <a:solidFill>
                            <a:srgbClr val="2C1A0E"/>
                          </a:solidFill>
                          <a:latin typeface="Garamond"/>
                          <a:ea typeface="Garamond"/>
                          <a:cs typeface="Garamond"/>
                          <a:sym typeface="Garamond"/>
                        </a:rPr>
                        <a:t>A person reviews the concern before filing</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r>
            </a:tbl>
          </a:graphicData>
        </a:graphic>
      </p:graphicFrame>
      <p:sp>
        <p:nvSpPr>
          <p:cNvPr id="310" name="Google Shape;310;g3e868c9b429_1_59"/>
          <p:cNvSpPr/>
          <p:nvPr/>
        </p:nvSpPr>
        <p:spPr>
          <a:xfrm>
            <a:off x="13304513" y="2221987"/>
            <a:ext cx="4293000" cy="6755400"/>
          </a:xfrm>
          <a:prstGeom prst="rect">
            <a:avLst/>
          </a:prstGeom>
          <a:solidFill>
            <a:srgbClr val="2C1A0E"/>
          </a:solidFill>
          <a:ln cap="flat" cmpd="sng" w="19050">
            <a:solidFill>
              <a:srgbClr val="C8943A"/>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11" name="Google Shape;311;g3e868c9b429_1_59"/>
          <p:cNvSpPr/>
          <p:nvPr/>
        </p:nvSpPr>
        <p:spPr>
          <a:xfrm>
            <a:off x="13304520" y="2221992"/>
            <a:ext cx="4293000" cy="150900"/>
          </a:xfrm>
          <a:prstGeom prst="rect">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12" name="Google Shape;312;g3e868c9b429_1_59"/>
          <p:cNvSpPr/>
          <p:nvPr/>
        </p:nvSpPr>
        <p:spPr>
          <a:xfrm>
            <a:off x="13578840" y="2496312"/>
            <a:ext cx="3771900" cy="61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2400"/>
              <a:buFont typeface="Garamond"/>
              <a:buNone/>
            </a:pPr>
            <a:r>
              <a:rPr b="1" lang="en-US" sz="2400">
                <a:solidFill>
                  <a:srgbClr val="F5C784"/>
                </a:solidFill>
                <a:latin typeface="Garamond"/>
                <a:ea typeface="Garamond"/>
                <a:cs typeface="Garamond"/>
                <a:sym typeface="Garamond"/>
              </a:rPr>
              <a:t>Review is the rule</a:t>
            </a:r>
            <a:endParaRPr sz="2400">
              <a:solidFill>
                <a:schemeClr val="dk1"/>
              </a:solidFill>
              <a:latin typeface="Calibri"/>
              <a:ea typeface="Calibri"/>
              <a:cs typeface="Calibri"/>
              <a:sym typeface="Calibri"/>
            </a:endParaRPr>
          </a:p>
        </p:txBody>
      </p:sp>
      <p:sp>
        <p:nvSpPr>
          <p:cNvPr id="313" name="Google Shape;313;g3e868c9b429_1_59"/>
          <p:cNvSpPr/>
          <p:nvPr/>
        </p:nvSpPr>
        <p:spPr>
          <a:xfrm>
            <a:off x="13578840" y="3429000"/>
            <a:ext cx="3813000" cy="4663500"/>
          </a:xfrm>
          <a:prstGeom prst="rect">
            <a:avLst/>
          </a:prstGeom>
          <a:noFill/>
          <a:ln>
            <a:noFill/>
          </a:ln>
        </p:spPr>
        <p:txBody>
          <a:bodyPr anchorCtr="0" anchor="t" bIns="0" lIns="0" spcFirstLastPara="1" rIns="0" wrap="square" tIns="0">
            <a:noAutofit/>
          </a:bodyPr>
          <a:lstStyle/>
          <a:p>
            <a:pPr indent="-311150" lvl="0" marL="254000" marR="0" rtl="0" algn="l">
              <a:spcBef>
                <a:spcPts val="0"/>
              </a:spcBef>
              <a:spcAft>
                <a:spcPts val="0"/>
              </a:spcAft>
              <a:buClr>
                <a:srgbClr val="EAD9BD"/>
              </a:buClr>
              <a:buSzPts val="2700"/>
              <a:buFont typeface="Garamond"/>
              <a:buChar char="•"/>
            </a:pPr>
            <a:r>
              <a:rPr lang="en-US" sz="2700">
                <a:solidFill>
                  <a:srgbClr val="EAD9BD"/>
                </a:solidFill>
                <a:latin typeface="Garamond"/>
                <a:ea typeface="Garamond"/>
                <a:cs typeface="Garamond"/>
                <a:sym typeface="Garamond"/>
              </a:rPr>
              <a:t>Review is the normal path, not the exception</a:t>
            </a:r>
            <a:endParaRPr sz="2700">
              <a:solidFill>
                <a:schemeClr val="dk1"/>
              </a:solidFill>
              <a:latin typeface="Garamond"/>
              <a:ea typeface="Garamond"/>
              <a:cs typeface="Garamond"/>
              <a:sym typeface="Garamond"/>
            </a:endParaRPr>
          </a:p>
          <a:p>
            <a:pPr indent="-311150" lvl="0" marL="254000" marR="0" rtl="0" algn="l">
              <a:spcBef>
                <a:spcPts val="1800"/>
              </a:spcBef>
              <a:spcAft>
                <a:spcPts val="0"/>
              </a:spcAft>
              <a:buClr>
                <a:srgbClr val="EAD9BD"/>
              </a:buClr>
              <a:buSzPts val="2700"/>
              <a:buFont typeface="Garamond"/>
              <a:buChar char="•"/>
            </a:pPr>
            <a:r>
              <a:rPr lang="en-US" sz="2700">
                <a:solidFill>
                  <a:srgbClr val="EAD9BD"/>
                </a:solidFill>
                <a:latin typeface="Garamond"/>
                <a:ea typeface="Garamond"/>
                <a:cs typeface="Garamond"/>
                <a:sym typeface="Garamond"/>
              </a:rPr>
              <a:t>Two steps are mandatory — nothing moves until a person signs off</a:t>
            </a:r>
            <a:endParaRPr sz="2700">
              <a:solidFill>
                <a:schemeClr val="dk1"/>
              </a:solidFill>
              <a:latin typeface="Garamond"/>
              <a:ea typeface="Garamond"/>
              <a:cs typeface="Garamond"/>
              <a:sym typeface="Garamond"/>
            </a:endParaRPr>
          </a:p>
          <a:p>
            <a:pPr indent="-311150" lvl="0" marL="254000" marR="0" rtl="0" algn="l">
              <a:spcBef>
                <a:spcPts val="1800"/>
              </a:spcBef>
              <a:spcAft>
                <a:spcPts val="0"/>
              </a:spcAft>
              <a:buClr>
                <a:srgbClr val="EAD9BD"/>
              </a:buClr>
              <a:buSzPts val="2700"/>
              <a:buFont typeface="Garamond"/>
              <a:buChar char="•"/>
            </a:pPr>
            <a:r>
              <a:rPr lang="en-US" sz="2700">
                <a:solidFill>
                  <a:srgbClr val="EAD9BD"/>
                </a:solidFill>
                <a:latin typeface="Garamond"/>
                <a:ea typeface="Garamond"/>
                <a:cs typeface="Garamond"/>
                <a:sym typeface="Garamond"/>
              </a:rPr>
              <a:t>There’s no “skip” button</a:t>
            </a:r>
            <a:endParaRPr sz="2700">
              <a:solidFill>
                <a:schemeClr val="dk1"/>
              </a:solidFill>
              <a:latin typeface="Garamond"/>
              <a:ea typeface="Garamond"/>
              <a:cs typeface="Garamond"/>
              <a:sym typeface="Garamond"/>
            </a:endParaRPr>
          </a:p>
          <a:p>
            <a:pPr indent="-311150" lvl="0" marL="254000" marR="0" rtl="0" algn="l">
              <a:spcBef>
                <a:spcPts val="1800"/>
              </a:spcBef>
              <a:spcAft>
                <a:spcPts val="0"/>
              </a:spcAft>
              <a:buClr>
                <a:srgbClr val="EAD9BD"/>
              </a:buClr>
              <a:buSzPts val="2700"/>
              <a:buFont typeface="Garamond"/>
              <a:buChar char="•"/>
            </a:pPr>
            <a:r>
              <a:rPr lang="en-US" sz="2700">
                <a:solidFill>
                  <a:srgbClr val="EAD9BD"/>
                </a:solidFill>
                <a:latin typeface="Garamond"/>
                <a:ea typeface="Garamond"/>
                <a:cs typeface="Garamond"/>
                <a:sym typeface="Garamond"/>
              </a:rPr>
              <a:t>The activity log can’t be edited after the fact</a:t>
            </a:r>
            <a:endParaRPr sz="2700">
              <a:solidFill>
                <a:schemeClr val="dk1"/>
              </a:solidFill>
              <a:latin typeface="Garamond"/>
              <a:ea typeface="Garamond"/>
              <a:cs typeface="Garamond"/>
              <a:sym typeface="Garamond"/>
            </a:endParaRPr>
          </a:p>
        </p:txBody>
      </p:sp>
      <p:sp>
        <p:nvSpPr>
          <p:cNvPr id="314" name="Google Shape;314;g3e868c9b429_1_59"/>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315" name="Google Shape;315;g3e868c9b429_1_59"/>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320" name="Shape 320"/>
        <p:cNvGrpSpPr/>
        <p:nvPr/>
      </p:nvGrpSpPr>
      <p:grpSpPr>
        <a:xfrm>
          <a:off x="0" y="0"/>
          <a:ext cx="0" cy="0"/>
          <a:chOff x="0" y="0"/>
          <a:chExt cx="0" cy="0"/>
        </a:xfrm>
      </p:grpSpPr>
      <p:sp>
        <p:nvSpPr>
          <p:cNvPr id="321" name="Google Shape;321;g3e868c9b429_1_74"/>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322" name="Google Shape;322;g3e868c9b429_1_74"/>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323" name="Google Shape;323;g3e868c9b429_1_74"/>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Transparency by Default</a:t>
            </a:r>
            <a:endParaRPr sz="4700">
              <a:solidFill>
                <a:schemeClr val="dk1"/>
              </a:solidFill>
              <a:latin typeface="Calibri"/>
              <a:ea typeface="Calibri"/>
              <a:cs typeface="Calibri"/>
              <a:sym typeface="Calibri"/>
            </a:endParaRPr>
          </a:p>
        </p:txBody>
      </p:sp>
      <p:sp>
        <p:nvSpPr>
          <p:cNvPr id="324" name="Google Shape;324;g3e868c9b429_1_74"/>
          <p:cNvSpPr/>
          <p:nvPr/>
        </p:nvSpPr>
        <p:spPr>
          <a:xfrm>
            <a:off x="1810512" y="1536192"/>
            <a:ext cx="157734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B49A"/>
              </a:buClr>
              <a:buSzPts val="2000"/>
              <a:buFont typeface="Garamond"/>
              <a:buNone/>
            </a:pPr>
            <a:r>
              <a:rPr i="1" lang="en-US" sz="2300">
                <a:solidFill>
                  <a:srgbClr val="C6B49A"/>
                </a:solidFill>
                <a:latin typeface="Garamond"/>
                <a:ea typeface="Garamond"/>
                <a:cs typeface="Garamond"/>
                <a:sym typeface="Garamond"/>
              </a:rPr>
              <a:t>A reviewer can always see how a result was reached — nothing is hidden</a:t>
            </a:r>
            <a:endParaRPr sz="2300">
              <a:solidFill>
                <a:schemeClr val="dk1"/>
              </a:solidFill>
              <a:latin typeface="Calibri"/>
              <a:ea typeface="Calibri"/>
              <a:cs typeface="Calibri"/>
              <a:sym typeface="Calibri"/>
            </a:endParaRPr>
          </a:p>
        </p:txBody>
      </p:sp>
      <p:sp>
        <p:nvSpPr>
          <p:cNvPr id="325" name="Google Shape;325;g3e868c9b429_1_74"/>
          <p:cNvSpPr/>
          <p:nvPr/>
        </p:nvSpPr>
        <p:spPr>
          <a:xfrm>
            <a:off x="685800" y="2791317"/>
            <a:ext cx="5390700" cy="55548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26" name="Google Shape;326;g3e868c9b429_1_74"/>
          <p:cNvSpPr/>
          <p:nvPr/>
        </p:nvSpPr>
        <p:spPr>
          <a:xfrm>
            <a:off x="685800" y="2791317"/>
            <a:ext cx="53907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27" name="Google Shape;327;g3e868c9b429_1_74"/>
          <p:cNvSpPr/>
          <p:nvPr/>
        </p:nvSpPr>
        <p:spPr>
          <a:xfrm>
            <a:off x="987552" y="3093069"/>
            <a:ext cx="603600" cy="6036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328" name="Google Shape;328;g3e868c9b429_1_74"/>
          <p:cNvPicPr preferRelativeResize="0"/>
          <p:nvPr/>
        </p:nvPicPr>
        <p:blipFill rotWithShape="1">
          <a:blip r:embed="rId4">
            <a:alphaModFix/>
          </a:blip>
          <a:srcRect b="0" l="0" r="0" t="0"/>
          <a:stretch/>
        </p:blipFill>
        <p:spPr>
          <a:xfrm>
            <a:off x="1132393" y="3237911"/>
            <a:ext cx="313822" cy="313822"/>
          </a:xfrm>
          <a:prstGeom prst="rect">
            <a:avLst/>
          </a:prstGeom>
          <a:noFill/>
          <a:ln>
            <a:noFill/>
          </a:ln>
        </p:spPr>
      </p:pic>
      <p:sp>
        <p:nvSpPr>
          <p:cNvPr id="329" name="Google Shape;329;g3e868c9b429_1_74"/>
          <p:cNvSpPr/>
          <p:nvPr/>
        </p:nvSpPr>
        <p:spPr>
          <a:xfrm>
            <a:off x="1769364" y="3024489"/>
            <a:ext cx="45675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200"/>
              <a:buFont typeface="Garamond"/>
              <a:buNone/>
            </a:pPr>
            <a:r>
              <a:rPr b="1" lang="en-US" sz="2700">
                <a:solidFill>
                  <a:srgbClr val="2C1A0E"/>
                </a:solidFill>
                <a:latin typeface="Garamond"/>
                <a:ea typeface="Garamond"/>
                <a:cs typeface="Garamond"/>
                <a:sym typeface="Garamond"/>
              </a:rPr>
              <a:t>The evidence</a:t>
            </a:r>
            <a:endParaRPr sz="2700">
              <a:solidFill>
                <a:schemeClr val="dk1"/>
              </a:solidFill>
              <a:latin typeface="Calibri"/>
              <a:ea typeface="Calibri"/>
              <a:cs typeface="Calibri"/>
              <a:sym typeface="Calibri"/>
            </a:endParaRPr>
          </a:p>
        </p:txBody>
      </p:sp>
      <p:sp>
        <p:nvSpPr>
          <p:cNvPr id="330" name="Google Shape;330;g3e868c9b429_1_74"/>
          <p:cNvSpPr/>
          <p:nvPr/>
        </p:nvSpPr>
        <p:spPr>
          <a:xfrm>
            <a:off x="1042416" y="4053189"/>
            <a:ext cx="4704900" cy="4114800"/>
          </a:xfrm>
          <a:prstGeom prst="rect">
            <a:avLst/>
          </a:prstGeom>
          <a:noFill/>
          <a:ln>
            <a:noFill/>
          </a:ln>
        </p:spPr>
        <p:txBody>
          <a:bodyPr anchorCtr="0" anchor="t" bIns="0" lIns="0" spcFirstLastPara="1" rIns="0" wrap="square" tIns="0">
            <a:noAutofit/>
          </a:bodyPr>
          <a:lstStyle/>
          <a:p>
            <a:pPr indent="-292100" lvl="0" marL="254000" marR="0" rtl="0" algn="l">
              <a:spcBef>
                <a:spcPts val="0"/>
              </a:spcBef>
              <a:spcAft>
                <a:spcPts val="0"/>
              </a:spcAft>
              <a:buClr>
                <a:srgbClr val="5E4A35"/>
              </a:buClr>
              <a:buSzPts val="2400"/>
              <a:buFont typeface="Garamond"/>
              <a:buChar char="•"/>
            </a:pPr>
            <a:r>
              <a:rPr lang="en-US" sz="2400">
                <a:solidFill>
                  <a:srgbClr val="5E4A35"/>
                </a:solidFill>
                <a:latin typeface="Garamond"/>
                <a:ea typeface="Garamond"/>
                <a:cs typeface="Garamond"/>
                <a:sym typeface="Garamond"/>
              </a:rPr>
              <a:t>Which data was used, and any fallback</a:t>
            </a:r>
            <a:endParaRPr sz="2400">
              <a:solidFill>
                <a:schemeClr val="dk1"/>
              </a:solidFill>
              <a:latin typeface="Garamond"/>
              <a:ea typeface="Garamond"/>
              <a:cs typeface="Garamond"/>
              <a:sym typeface="Garamond"/>
            </a:endParaRPr>
          </a:p>
          <a:p>
            <a:pPr indent="-292100" lvl="0" marL="254000" marR="0" rtl="0" algn="l">
              <a:spcBef>
                <a:spcPts val="1400"/>
              </a:spcBef>
              <a:spcAft>
                <a:spcPts val="0"/>
              </a:spcAft>
              <a:buClr>
                <a:srgbClr val="5E4A35"/>
              </a:buClr>
              <a:buSzPts val="2400"/>
              <a:buFont typeface="Garamond"/>
              <a:buChar char="•"/>
            </a:pPr>
            <a:r>
              <a:rPr lang="en-US" sz="2400">
                <a:solidFill>
                  <a:srgbClr val="5E4A35"/>
                </a:solidFill>
                <a:latin typeface="Garamond"/>
                <a:ea typeface="Garamond"/>
                <a:cs typeface="Garamond"/>
                <a:sym typeface="Garamond"/>
              </a:rPr>
              <a:t>Which guidelines were pulled in</a:t>
            </a:r>
            <a:endParaRPr sz="2400">
              <a:solidFill>
                <a:schemeClr val="dk1"/>
              </a:solidFill>
              <a:latin typeface="Garamond"/>
              <a:ea typeface="Garamond"/>
              <a:cs typeface="Garamond"/>
              <a:sym typeface="Garamond"/>
            </a:endParaRPr>
          </a:p>
          <a:p>
            <a:pPr indent="-292100" lvl="0" marL="254000" marR="0" rtl="0" algn="l">
              <a:spcBef>
                <a:spcPts val="1400"/>
              </a:spcBef>
              <a:spcAft>
                <a:spcPts val="0"/>
              </a:spcAft>
              <a:buClr>
                <a:srgbClr val="5E4A35"/>
              </a:buClr>
              <a:buSzPts val="2400"/>
              <a:buFont typeface="Garamond"/>
              <a:buChar char="•"/>
            </a:pPr>
            <a:r>
              <a:rPr lang="en-US" sz="2400">
                <a:solidFill>
                  <a:srgbClr val="5E4A35"/>
                </a:solidFill>
                <a:latin typeface="Garamond"/>
                <a:ea typeface="Garamond"/>
                <a:cs typeface="Garamond"/>
                <a:sym typeface="Garamond"/>
              </a:rPr>
              <a:t>What the calculators reported</a:t>
            </a:r>
            <a:endParaRPr sz="2400">
              <a:solidFill>
                <a:schemeClr val="dk1"/>
              </a:solidFill>
              <a:latin typeface="Garamond"/>
              <a:ea typeface="Garamond"/>
              <a:cs typeface="Garamond"/>
              <a:sym typeface="Garamond"/>
            </a:endParaRPr>
          </a:p>
          <a:p>
            <a:pPr indent="-292100" lvl="0" marL="254000" marR="0" rtl="0" algn="l">
              <a:spcBef>
                <a:spcPts val="1400"/>
              </a:spcBef>
              <a:spcAft>
                <a:spcPts val="0"/>
              </a:spcAft>
              <a:buClr>
                <a:srgbClr val="5E4A35"/>
              </a:buClr>
              <a:buSzPts val="2400"/>
              <a:buFont typeface="Garamond"/>
              <a:buChar char="•"/>
            </a:pPr>
            <a:r>
              <a:rPr lang="en-US" sz="2400">
                <a:solidFill>
                  <a:srgbClr val="5E4A35"/>
                </a:solidFill>
                <a:latin typeface="Garamond"/>
                <a:ea typeface="Garamond"/>
                <a:cs typeface="Garamond"/>
                <a:sym typeface="Garamond"/>
              </a:rPr>
              <a:t>Assumptions and warnings, in the open</a:t>
            </a:r>
            <a:endParaRPr sz="2400">
              <a:solidFill>
                <a:schemeClr val="dk1"/>
              </a:solidFill>
              <a:latin typeface="Garamond"/>
              <a:ea typeface="Garamond"/>
              <a:cs typeface="Garamond"/>
              <a:sym typeface="Garamond"/>
            </a:endParaRPr>
          </a:p>
          <a:p>
            <a:pPr indent="-292100" lvl="0" marL="254000" marR="0" rtl="0" algn="l">
              <a:spcBef>
                <a:spcPts val="1400"/>
              </a:spcBef>
              <a:spcAft>
                <a:spcPts val="0"/>
              </a:spcAft>
              <a:buClr>
                <a:srgbClr val="5E4A35"/>
              </a:buClr>
              <a:buSzPts val="2400"/>
              <a:buFont typeface="Garamond"/>
              <a:buChar char="•"/>
            </a:pPr>
            <a:r>
              <a:rPr lang="en-US" sz="2400">
                <a:solidFill>
                  <a:srgbClr val="5E4A35"/>
                </a:solidFill>
                <a:latin typeface="Garamond"/>
                <a:ea typeface="Garamond"/>
                <a:cs typeface="Garamond"/>
                <a:sym typeface="Garamond"/>
              </a:rPr>
              <a:t>A simple completeness score</a:t>
            </a:r>
            <a:endParaRPr sz="2400">
              <a:solidFill>
                <a:schemeClr val="dk1"/>
              </a:solidFill>
              <a:latin typeface="Garamond"/>
              <a:ea typeface="Garamond"/>
              <a:cs typeface="Garamond"/>
              <a:sym typeface="Garamond"/>
            </a:endParaRPr>
          </a:p>
        </p:txBody>
      </p:sp>
      <p:sp>
        <p:nvSpPr>
          <p:cNvPr id="331" name="Google Shape;331;g3e868c9b429_1_74"/>
          <p:cNvSpPr/>
          <p:nvPr/>
        </p:nvSpPr>
        <p:spPr>
          <a:xfrm>
            <a:off x="6446520" y="2791317"/>
            <a:ext cx="5390700" cy="55548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32" name="Google Shape;332;g3e868c9b429_1_74"/>
          <p:cNvSpPr/>
          <p:nvPr/>
        </p:nvSpPr>
        <p:spPr>
          <a:xfrm>
            <a:off x="6446520" y="2791317"/>
            <a:ext cx="5390700" cy="150900"/>
          </a:xfrm>
          <a:prstGeom prst="rect">
            <a:avLst/>
          </a:prstGeom>
          <a:solidFill>
            <a:srgbClr val="7B4A1E"/>
          </a:solidFill>
          <a:ln cap="flat" cmpd="sng" w="19050">
            <a:solidFill>
              <a:srgbClr val="7B4A1E"/>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33" name="Google Shape;333;g3e868c9b429_1_74"/>
          <p:cNvSpPr/>
          <p:nvPr/>
        </p:nvSpPr>
        <p:spPr>
          <a:xfrm>
            <a:off x="6748272" y="3093069"/>
            <a:ext cx="603600" cy="6036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334" name="Google Shape;334;g3e868c9b429_1_74"/>
          <p:cNvPicPr preferRelativeResize="0"/>
          <p:nvPr/>
        </p:nvPicPr>
        <p:blipFill rotWithShape="1">
          <a:blip r:embed="rId5">
            <a:alphaModFix/>
          </a:blip>
          <a:srcRect b="0" l="0" r="0" t="0"/>
          <a:stretch/>
        </p:blipFill>
        <p:spPr>
          <a:xfrm>
            <a:off x="6893114" y="3237911"/>
            <a:ext cx="313822" cy="313822"/>
          </a:xfrm>
          <a:prstGeom prst="rect">
            <a:avLst/>
          </a:prstGeom>
          <a:noFill/>
          <a:ln>
            <a:noFill/>
          </a:ln>
        </p:spPr>
      </p:pic>
      <p:sp>
        <p:nvSpPr>
          <p:cNvPr id="335" name="Google Shape;335;g3e868c9b429_1_74"/>
          <p:cNvSpPr/>
          <p:nvPr/>
        </p:nvSpPr>
        <p:spPr>
          <a:xfrm>
            <a:off x="7530084" y="3024489"/>
            <a:ext cx="4567500" cy="74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2C1A0E"/>
              </a:buClr>
              <a:buSzPts val="2200"/>
              <a:buFont typeface="Garamond"/>
              <a:buNone/>
            </a:pPr>
            <a:r>
              <a:rPr b="1" lang="en-US" sz="2700">
                <a:solidFill>
                  <a:srgbClr val="2C1A0E"/>
                </a:solidFill>
                <a:latin typeface="Garamond"/>
                <a:ea typeface="Garamond"/>
                <a:cs typeface="Garamond"/>
                <a:sym typeface="Garamond"/>
              </a:rPr>
              <a:t>Activity Log</a:t>
            </a:r>
            <a:endParaRPr b="1" sz="2700">
              <a:solidFill>
                <a:srgbClr val="2C1A0E"/>
              </a:solidFill>
              <a:latin typeface="Garamond"/>
              <a:ea typeface="Garamond"/>
              <a:cs typeface="Garamond"/>
              <a:sym typeface="Garamond"/>
            </a:endParaRPr>
          </a:p>
        </p:txBody>
      </p:sp>
      <p:sp>
        <p:nvSpPr>
          <p:cNvPr id="336" name="Google Shape;336;g3e868c9b429_1_74"/>
          <p:cNvSpPr/>
          <p:nvPr/>
        </p:nvSpPr>
        <p:spPr>
          <a:xfrm>
            <a:off x="6803136" y="4053189"/>
            <a:ext cx="4704900" cy="4114800"/>
          </a:xfrm>
          <a:prstGeom prst="rect">
            <a:avLst/>
          </a:prstGeom>
          <a:noFill/>
          <a:ln>
            <a:noFill/>
          </a:ln>
        </p:spPr>
        <p:txBody>
          <a:bodyPr anchorCtr="0" anchor="t" bIns="0" lIns="0" spcFirstLastPara="1" rIns="0" wrap="square" tIns="0">
            <a:noAutofit/>
          </a:bodyPr>
          <a:lstStyle/>
          <a:p>
            <a:pPr indent="-292100" lvl="0" marL="254000" marR="0" rtl="0" algn="l">
              <a:spcBef>
                <a:spcPts val="0"/>
              </a:spcBef>
              <a:spcAft>
                <a:spcPts val="0"/>
              </a:spcAft>
              <a:buClr>
                <a:srgbClr val="5E4A35"/>
              </a:buClr>
              <a:buSzPts val="2400"/>
              <a:buFont typeface="Garamond"/>
              <a:buChar char="•"/>
            </a:pPr>
            <a:r>
              <a:rPr lang="en-US" sz="2400">
                <a:solidFill>
                  <a:srgbClr val="5E4A35"/>
                </a:solidFill>
                <a:latin typeface="Garamond"/>
                <a:ea typeface="Garamond"/>
                <a:cs typeface="Garamond"/>
                <a:sym typeface="Garamond"/>
              </a:rPr>
              <a:t>A running, unchangeable record</a:t>
            </a:r>
            <a:endParaRPr sz="2400">
              <a:solidFill>
                <a:schemeClr val="dk1"/>
              </a:solidFill>
              <a:latin typeface="Garamond"/>
              <a:ea typeface="Garamond"/>
              <a:cs typeface="Garamond"/>
              <a:sym typeface="Garamond"/>
            </a:endParaRPr>
          </a:p>
          <a:p>
            <a:pPr indent="-292100" lvl="0" marL="254000" marR="0" rtl="0" algn="l">
              <a:spcBef>
                <a:spcPts val="1400"/>
              </a:spcBef>
              <a:spcAft>
                <a:spcPts val="0"/>
              </a:spcAft>
              <a:buClr>
                <a:srgbClr val="5E4A35"/>
              </a:buClr>
              <a:buSzPts val="2400"/>
              <a:buFont typeface="Garamond"/>
              <a:buChar char="•"/>
            </a:pPr>
            <a:r>
              <a:rPr lang="en-US" sz="2400">
                <a:solidFill>
                  <a:srgbClr val="5E4A35"/>
                </a:solidFill>
                <a:latin typeface="Garamond"/>
                <a:ea typeface="Garamond"/>
                <a:cs typeface="Garamond"/>
                <a:sym typeface="Garamond"/>
              </a:rPr>
              <a:t>Each step and when it happened</a:t>
            </a:r>
            <a:endParaRPr sz="2400">
              <a:solidFill>
                <a:schemeClr val="dk1"/>
              </a:solidFill>
              <a:latin typeface="Garamond"/>
              <a:ea typeface="Garamond"/>
              <a:cs typeface="Garamond"/>
              <a:sym typeface="Garamond"/>
            </a:endParaRPr>
          </a:p>
          <a:p>
            <a:pPr indent="-292100" lvl="0" marL="254000" marR="0" rtl="0" algn="l">
              <a:spcBef>
                <a:spcPts val="1400"/>
              </a:spcBef>
              <a:spcAft>
                <a:spcPts val="0"/>
              </a:spcAft>
              <a:buClr>
                <a:srgbClr val="5E4A35"/>
              </a:buClr>
              <a:buSzPts val="2400"/>
              <a:buFont typeface="Garamond"/>
              <a:buChar char="•"/>
            </a:pPr>
            <a:r>
              <a:rPr lang="en-US" sz="2400">
                <a:solidFill>
                  <a:srgbClr val="5E4A35"/>
                </a:solidFill>
                <a:latin typeface="Garamond"/>
                <a:ea typeface="Garamond"/>
                <a:cs typeface="Garamond"/>
                <a:sym typeface="Garamond"/>
              </a:rPr>
              <a:t>Who acted — the system or a named staff member</a:t>
            </a:r>
            <a:endParaRPr sz="2400">
              <a:solidFill>
                <a:schemeClr val="dk1"/>
              </a:solidFill>
              <a:latin typeface="Garamond"/>
              <a:ea typeface="Garamond"/>
              <a:cs typeface="Garamond"/>
              <a:sym typeface="Garamond"/>
            </a:endParaRPr>
          </a:p>
          <a:p>
            <a:pPr indent="-292100" lvl="0" marL="254000" marR="0" rtl="0" algn="l">
              <a:spcBef>
                <a:spcPts val="1400"/>
              </a:spcBef>
              <a:spcAft>
                <a:spcPts val="0"/>
              </a:spcAft>
              <a:buClr>
                <a:srgbClr val="5E4A35"/>
              </a:buClr>
              <a:buSzPts val="2400"/>
              <a:buFont typeface="Garamond"/>
              <a:buChar char="•"/>
            </a:pPr>
            <a:r>
              <a:rPr lang="en-US" sz="2400">
                <a:solidFill>
                  <a:srgbClr val="5E4A35"/>
                </a:solidFill>
                <a:latin typeface="Garamond"/>
                <a:ea typeface="Garamond"/>
                <a:cs typeface="Garamond"/>
                <a:sym typeface="Garamond"/>
              </a:rPr>
              <a:t>What they decided at that point</a:t>
            </a:r>
            <a:endParaRPr sz="2400">
              <a:solidFill>
                <a:schemeClr val="dk1"/>
              </a:solidFill>
              <a:latin typeface="Garamond"/>
              <a:ea typeface="Garamond"/>
              <a:cs typeface="Garamond"/>
              <a:sym typeface="Garamond"/>
            </a:endParaRPr>
          </a:p>
        </p:txBody>
      </p:sp>
      <p:sp>
        <p:nvSpPr>
          <p:cNvPr id="337" name="Google Shape;337;g3e868c9b429_1_74"/>
          <p:cNvSpPr/>
          <p:nvPr/>
        </p:nvSpPr>
        <p:spPr>
          <a:xfrm>
            <a:off x="12207240" y="2791317"/>
            <a:ext cx="5390700" cy="5554800"/>
          </a:xfrm>
          <a:prstGeom prst="rect">
            <a:avLst/>
          </a:prstGeom>
          <a:solidFill>
            <a:srgbClr val="2C1A0E"/>
          </a:solidFill>
          <a:ln cap="flat" cmpd="sng" w="19050">
            <a:solidFill>
              <a:srgbClr val="C8943A"/>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38" name="Google Shape;338;g3e868c9b429_1_74"/>
          <p:cNvSpPr/>
          <p:nvPr/>
        </p:nvSpPr>
        <p:spPr>
          <a:xfrm>
            <a:off x="12207240" y="2791317"/>
            <a:ext cx="5390700" cy="150900"/>
          </a:xfrm>
          <a:prstGeom prst="rect">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39" name="Google Shape;339;g3e868c9b429_1_74"/>
          <p:cNvSpPr/>
          <p:nvPr/>
        </p:nvSpPr>
        <p:spPr>
          <a:xfrm>
            <a:off x="12508992" y="3093069"/>
            <a:ext cx="603600" cy="6036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340" name="Google Shape;340;g3e868c9b429_1_74"/>
          <p:cNvPicPr preferRelativeResize="0"/>
          <p:nvPr/>
        </p:nvPicPr>
        <p:blipFill rotWithShape="1">
          <a:blip r:embed="rId3">
            <a:alphaModFix/>
          </a:blip>
          <a:srcRect b="0" l="0" r="0" t="0"/>
          <a:stretch/>
        </p:blipFill>
        <p:spPr>
          <a:xfrm>
            <a:off x="12653834" y="3237911"/>
            <a:ext cx="313822" cy="313822"/>
          </a:xfrm>
          <a:prstGeom prst="rect">
            <a:avLst/>
          </a:prstGeom>
          <a:noFill/>
          <a:ln>
            <a:noFill/>
          </a:ln>
        </p:spPr>
      </p:pic>
      <p:sp>
        <p:nvSpPr>
          <p:cNvPr id="341" name="Google Shape;341;g3e868c9b429_1_74"/>
          <p:cNvSpPr/>
          <p:nvPr/>
        </p:nvSpPr>
        <p:spPr>
          <a:xfrm>
            <a:off x="13290804" y="3024489"/>
            <a:ext cx="45675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2200"/>
              <a:buFont typeface="Garamond"/>
              <a:buNone/>
            </a:pPr>
            <a:r>
              <a:rPr b="1" lang="en-US" sz="2200">
                <a:solidFill>
                  <a:srgbClr val="F5C784"/>
                </a:solidFill>
                <a:latin typeface="Garamond"/>
                <a:ea typeface="Garamond"/>
                <a:cs typeface="Garamond"/>
                <a:sym typeface="Garamond"/>
              </a:rPr>
              <a:t>A sanity check</a:t>
            </a:r>
            <a:endParaRPr sz="2200">
              <a:solidFill>
                <a:schemeClr val="dk1"/>
              </a:solidFill>
              <a:latin typeface="Calibri"/>
              <a:ea typeface="Calibri"/>
              <a:cs typeface="Calibri"/>
              <a:sym typeface="Calibri"/>
            </a:endParaRPr>
          </a:p>
        </p:txBody>
      </p:sp>
      <p:sp>
        <p:nvSpPr>
          <p:cNvPr id="342" name="Google Shape;342;g3e868c9b429_1_74"/>
          <p:cNvSpPr/>
          <p:nvPr/>
        </p:nvSpPr>
        <p:spPr>
          <a:xfrm>
            <a:off x="12563856" y="4094337"/>
            <a:ext cx="192300" cy="768300"/>
          </a:xfrm>
          <a:prstGeom prst="rect">
            <a:avLst/>
          </a:prstGeom>
          <a:solidFill>
            <a:srgbClr val="6F8B53"/>
          </a:solidFill>
          <a:ln cap="flat" cmpd="sng" w="19050">
            <a:solidFill>
              <a:srgbClr val="6F8B53"/>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43" name="Google Shape;343;g3e868c9b429_1_74"/>
          <p:cNvSpPr/>
          <p:nvPr/>
        </p:nvSpPr>
        <p:spPr>
          <a:xfrm>
            <a:off x="12893040" y="4066905"/>
            <a:ext cx="4293000" cy="76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B53"/>
              </a:buClr>
              <a:buSzPts val="2000"/>
              <a:buFont typeface="Garamond"/>
              <a:buNone/>
            </a:pPr>
            <a:r>
              <a:rPr b="1" lang="en-US" sz="2300">
                <a:solidFill>
                  <a:srgbClr val="6F8B53"/>
                </a:solidFill>
                <a:latin typeface="Garamond"/>
                <a:ea typeface="Garamond"/>
                <a:cs typeface="Garamond"/>
                <a:sym typeface="Garamond"/>
              </a:rPr>
              <a:t>Looks right  </a:t>
            </a:r>
            <a:r>
              <a:rPr lang="en-US" sz="2000">
                <a:solidFill>
                  <a:srgbClr val="EAD9BD"/>
                </a:solidFill>
                <a:latin typeface="Garamond"/>
                <a:ea typeface="Garamond"/>
                <a:cs typeface="Garamond"/>
                <a:sym typeface="Garamond"/>
              </a:rPr>
              <a:t>→ go ahead</a:t>
            </a:r>
            <a:endParaRPr sz="2300">
              <a:solidFill>
                <a:schemeClr val="dk1"/>
              </a:solidFill>
              <a:latin typeface="Garamond"/>
              <a:ea typeface="Garamond"/>
              <a:cs typeface="Garamond"/>
              <a:sym typeface="Garamond"/>
            </a:endParaRPr>
          </a:p>
        </p:txBody>
      </p:sp>
      <p:sp>
        <p:nvSpPr>
          <p:cNvPr id="344" name="Google Shape;344;g3e868c9b429_1_74"/>
          <p:cNvSpPr/>
          <p:nvPr/>
        </p:nvSpPr>
        <p:spPr>
          <a:xfrm>
            <a:off x="12563856" y="5081889"/>
            <a:ext cx="192300" cy="7683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45" name="Google Shape;345;g3e868c9b429_1_74"/>
          <p:cNvSpPr/>
          <p:nvPr/>
        </p:nvSpPr>
        <p:spPr>
          <a:xfrm>
            <a:off x="12893040" y="5054457"/>
            <a:ext cx="4293000" cy="76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943A"/>
              </a:buClr>
              <a:buSzPts val="2000"/>
              <a:buFont typeface="Garamond"/>
              <a:buNone/>
            </a:pPr>
            <a:r>
              <a:rPr b="1" lang="en-US" sz="2300">
                <a:solidFill>
                  <a:srgbClr val="C8943A"/>
                </a:solidFill>
                <a:latin typeface="Garamond"/>
                <a:ea typeface="Garamond"/>
                <a:cs typeface="Garamond"/>
                <a:sym typeface="Garamond"/>
              </a:rPr>
              <a:t>A bit thin  </a:t>
            </a:r>
            <a:r>
              <a:rPr lang="en-US" sz="2000">
                <a:solidFill>
                  <a:srgbClr val="EAD9BD"/>
                </a:solidFill>
                <a:latin typeface="Garamond"/>
                <a:ea typeface="Garamond"/>
                <a:cs typeface="Garamond"/>
                <a:sym typeface="Garamond"/>
              </a:rPr>
              <a:t>→ flag for review</a:t>
            </a:r>
            <a:endParaRPr sz="2300">
              <a:solidFill>
                <a:schemeClr val="dk1"/>
              </a:solidFill>
              <a:latin typeface="Garamond"/>
              <a:ea typeface="Garamond"/>
              <a:cs typeface="Garamond"/>
              <a:sym typeface="Garamond"/>
            </a:endParaRPr>
          </a:p>
        </p:txBody>
      </p:sp>
      <p:sp>
        <p:nvSpPr>
          <p:cNvPr id="346" name="Google Shape;346;g3e868c9b429_1_74"/>
          <p:cNvSpPr/>
          <p:nvPr/>
        </p:nvSpPr>
        <p:spPr>
          <a:xfrm>
            <a:off x="12563856" y="6069441"/>
            <a:ext cx="192300" cy="768300"/>
          </a:xfrm>
          <a:prstGeom prst="rect">
            <a:avLst/>
          </a:prstGeom>
          <a:solidFill>
            <a:srgbClr val="B85042"/>
          </a:solidFill>
          <a:ln cap="flat" cmpd="sng" w="19050">
            <a:solidFill>
              <a:srgbClr val="B8504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47" name="Google Shape;347;g3e868c9b429_1_74"/>
          <p:cNvSpPr/>
          <p:nvPr/>
        </p:nvSpPr>
        <p:spPr>
          <a:xfrm>
            <a:off x="12893040" y="6042009"/>
            <a:ext cx="4293000" cy="76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2000"/>
              <a:buFont typeface="Garamond"/>
              <a:buNone/>
            </a:pPr>
            <a:r>
              <a:rPr b="1" lang="en-US" sz="2300">
                <a:solidFill>
                  <a:srgbClr val="B85042"/>
                </a:solidFill>
                <a:latin typeface="Garamond"/>
                <a:ea typeface="Garamond"/>
                <a:cs typeface="Garamond"/>
                <a:sym typeface="Garamond"/>
              </a:rPr>
              <a:t>Doubtful  </a:t>
            </a:r>
            <a:r>
              <a:rPr lang="en-US" sz="2000">
                <a:solidFill>
                  <a:srgbClr val="EAD9BD"/>
                </a:solidFill>
                <a:latin typeface="Garamond"/>
                <a:ea typeface="Garamond"/>
                <a:cs typeface="Garamond"/>
                <a:sym typeface="Garamond"/>
              </a:rPr>
              <a:t>→ send to a person</a:t>
            </a:r>
            <a:endParaRPr sz="2300">
              <a:solidFill>
                <a:schemeClr val="dk1"/>
              </a:solidFill>
              <a:latin typeface="Garamond"/>
              <a:ea typeface="Garamond"/>
              <a:cs typeface="Garamond"/>
              <a:sym typeface="Garamond"/>
            </a:endParaRPr>
          </a:p>
        </p:txBody>
      </p:sp>
      <p:sp>
        <p:nvSpPr>
          <p:cNvPr id="348" name="Google Shape;348;g3e868c9b429_1_74"/>
          <p:cNvSpPr/>
          <p:nvPr/>
        </p:nvSpPr>
        <p:spPr>
          <a:xfrm>
            <a:off x="12563856" y="7180437"/>
            <a:ext cx="4704900" cy="10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6B49A"/>
              </a:buClr>
              <a:buSzPts val="1600"/>
              <a:buFont typeface="Calibri"/>
              <a:buNone/>
            </a:pPr>
            <a:r>
              <a:rPr i="1" lang="en-US" sz="2200">
                <a:solidFill>
                  <a:srgbClr val="C6B49A"/>
                </a:solidFill>
                <a:latin typeface="Garamond"/>
                <a:ea typeface="Garamond"/>
                <a:cs typeface="Garamond"/>
                <a:sym typeface="Garamond"/>
              </a:rPr>
              <a:t>It reads only the order, the warnings and the review notes — so a guideline’s title can never be mistaken for a real allergy alert.</a:t>
            </a:r>
            <a:endParaRPr sz="2200">
              <a:solidFill>
                <a:schemeClr val="dk1"/>
              </a:solidFill>
              <a:latin typeface="Garamond"/>
              <a:ea typeface="Garamond"/>
              <a:cs typeface="Garamond"/>
              <a:sym typeface="Garamond"/>
            </a:endParaRPr>
          </a:p>
        </p:txBody>
      </p:sp>
      <p:sp>
        <p:nvSpPr>
          <p:cNvPr id="349" name="Google Shape;349;g3e868c9b429_1_74"/>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350" name="Google Shape;350;g3e868c9b429_1_74"/>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355" name="Shape 355"/>
        <p:cNvGrpSpPr/>
        <p:nvPr/>
      </p:nvGrpSpPr>
      <p:grpSpPr>
        <a:xfrm>
          <a:off x="0" y="0"/>
          <a:ext cx="0" cy="0"/>
          <a:chOff x="0" y="0"/>
          <a:chExt cx="0" cy="0"/>
        </a:xfrm>
      </p:grpSpPr>
      <p:sp>
        <p:nvSpPr>
          <p:cNvPr id="356" name="Google Shape;356;g3e868c9b429_1_108"/>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357" name="Google Shape;357;g3e868c9b429_1_108"/>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358" name="Google Shape;358;g3e868c9b429_1_108"/>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Tested for Failure</a:t>
            </a:r>
            <a:endParaRPr sz="4700">
              <a:solidFill>
                <a:schemeClr val="dk1"/>
              </a:solidFill>
              <a:latin typeface="Calibri"/>
              <a:ea typeface="Calibri"/>
              <a:cs typeface="Calibri"/>
              <a:sym typeface="Calibri"/>
            </a:endParaRPr>
          </a:p>
        </p:txBody>
      </p:sp>
      <p:sp>
        <p:nvSpPr>
          <p:cNvPr id="359" name="Google Shape;359;g3e868c9b429_1_108"/>
          <p:cNvSpPr/>
          <p:nvPr/>
        </p:nvSpPr>
        <p:spPr>
          <a:xfrm>
            <a:off x="1810512" y="1536192"/>
            <a:ext cx="157734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B49A"/>
              </a:buClr>
              <a:buSzPts val="2000"/>
              <a:buFont typeface="Garamond"/>
              <a:buNone/>
            </a:pPr>
            <a:r>
              <a:rPr i="1" lang="en-US" sz="2000">
                <a:solidFill>
                  <a:srgbClr val="C6B49A"/>
                </a:solidFill>
                <a:latin typeface="Garamond"/>
                <a:ea typeface="Garamond"/>
                <a:cs typeface="Garamond"/>
                <a:sym typeface="Garamond"/>
              </a:rPr>
              <a:t>95 checks pass on a laptop — and we planned for the ways it could go wrong</a:t>
            </a:r>
            <a:endParaRPr sz="2000">
              <a:solidFill>
                <a:schemeClr val="dk1"/>
              </a:solidFill>
              <a:latin typeface="Calibri"/>
              <a:ea typeface="Calibri"/>
              <a:cs typeface="Calibri"/>
              <a:sym typeface="Calibri"/>
            </a:endParaRPr>
          </a:p>
        </p:txBody>
      </p:sp>
      <p:graphicFrame>
        <p:nvGraphicFramePr>
          <p:cNvPr id="360" name="Google Shape;360;g3e868c9b429_1_108"/>
          <p:cNvGraphicFramePr/>
          <p:nvPr/>
        </p:nvGraphicFramePr>
        <p:xfrm>
          <a:off x="685800" y="2221992"/>
          <a:ext cx="3000000" cy="3000000"/>
        </p:xfrm>
        <a:graphic>
          <a:graphicData uri="http://schemas.openxmlformats.org/drawingml/2006/table">
            <a:tbl>
              <a:tblPr>
                <a:noFill/>
                <a:tableStyleId>{8FE5CE00-8E91-4903-B5BB-D88EA2FC722F}</a:tableStyleId>
              </a:tblPr>
              <a:tblGrid>
                <a:gridCol w="4594875"/>
                <a:gridCol w="1645925"/>
              </a:tblGrid>
              <a:tr h="832475">
                <a:tc>
                  <a:txBody>
                    <a:bodyPr/>
                    <a:lstStyle/>
                    <a:p>
                      <a:pPr indent="0" lvl="0" marL="0" marR="0" rtl="0" algn="l">
                        <a:spcBef>
                          <a:spcPts val="0"/>
                        </a:spcBef>
                        <a:spcAft>
                          <a:spcPts val="0"/>
                        </a:spcAft>
                        <a:buClr>
                          <a:srgbClr val="F5C784"/>
                        </a:buClr>
                        <a:buSzPts val="1700"/>
                        <a:buFont typeface="Garamond"/>
                        <a:buNone/>
                      </a:pPr>
                      <a:r>
                        <a:rPr b="1" lang="en-US" sz="2700" u="none" cap="none" strike="noStrike">
                          <a:solidFill>
                            <a:srgbClr val="F5C784"/>
                          </a:solidFill>
                          <a:latin typeface="Garamond"/>
                          <a:ea typeface="Garamond"/>
                          <a:cs typeface="Garamond"/>
                          <a:sym typeface="Garamond"/>
                        </a:rPr>
                        <a:t>What we check</a:t>
                      </a:r>
                      <a:endParaRPr sz="27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c>
                  <a:txBody>
                    <a:bodyPr/>
                    <a:lstStyle/>
                    <a:p>
                      <a:pPr indent="0" lvl="0" marL="0" marR="0" rtl="0" algn="l">
                        <a:spcBef>
                          <a:spcPts val="0"/>
                        </a:spcBef>
                        <a:spcAft>
                          <a:spcPts val="0"/>
                        </a:spcAft>
                        <a:buClr>
                          <a:srgbClr val="F5C784"/>
                        </a:buClr>
                        <a:buSzPts val="1700"/>
                        <a:buFont typeface="Garamond"/>
                        <a:buNone/>
                      </a:pPr>
                      <a:r>
                        <a:rPr b="1" lang="en-US" sz="2700" u="none" cap="none" strike="noStrike">
                          <a:solidFill>
                            <a:srgbClr val="F5C784"/>
                          </a:solidFill>
                          <a:latin typeface="Garamond"/>
                          <a:ea typeface="Garamond"/>
                          <a:cs typeface="Garamond"/>
                          <a:sym typeface="Garamond"/>
                        </a:rPr>
                        <a:t>Checks</a:t>
                      </a:r>
                      <a:endParaRPr sz="27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r>
              <a:tr h="832475">
                <a:tc>
                  <a:txBody>
                    <a:bodyPr/>
                    <a:lstStyle/>
                    <a:p>
                      <a:pPr indent="0" lvl="0" marL="0" marR="0" rtl="0" algn="l">
                        <a:spcBef>
                          <a:spcPts val="0"/>
                        </a:spcBef>
                        <a:spcAft>
                          <a:spcPts val="0"/>
                        </a:spcAft>
                        <a:buClr>
                          <a:srgbClr val="2C1A0E"/>
                        </a:buClr>
                        <a:buSzPts val="1600"/>
                        <a:buFont typeface="Calibri"/>
                        <a:buNone/>
                      </a:pPr>
                      <a:r>
                        <a:rPr lang="en-US" sz="2100" u="none" cap="none" strike="noStrike">
                          <a:solidFill>
                            <a:srgbClr val="2C1A0E"/>
                          </a:solidFill>
                          <a:latin typeface="Garamond"/>
                          <a:ea typeface="Garamond"/>
                          <a:cs typeface="Garamond"/>
                          <a:sym typeface="Garamond"/>
                        </a:rPr>
                        <a:t>Data tools</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ctr">
                        <a:spcBef>
                          <a:spcPts val="0"/>
                        </a:spcBef>
                        <a:spcAft>
                          <a:spcPts val="0"/>
                        </a:spcAft>
                        <a:buClr>
                          <a:srgbClr val="2C1A0E"/>
                        </a:buClr>
                        <a:buSzPts val="1600"/>
                        <a:buFont typeface="Calibri"/>
                        <a:buNone/>
                      </a:pPr>
                      <a:r>
                        <a:rPr lang="en-US" sz="2100">
                          <a:solidFill>
                            <a:srgbClr val="2C1A0E"/>
                          </a:solidFill>
                          <a:latin typeface="Garamond"/>
                          <a:ea typeface="Garamond"/>
                          <a:cs typeface="Garamond"/>
                          <a:sym typeface="Garamond"/>
                        </a:rPr>
                        <a:t>31</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r>
              <a:tr h="832475">
                <a:tc>
                  <a:txBody>
                    <a:bodyPr/>
                    <a:lstStyle/>
                    <a:p>
                      <a:pPr indent="0" lvl="0" marL="0" marR="0" rtl="0" algn="l">
                        <a:spcBef>
                          <a:spcPts val="0"/>
                        </a:spcBef>
                        <a:spcAft>
                          <a:spcPts val="0"/>
                        </a:spcAft>
                        <a:buClr>
                          <a:srgbClr val="2C1A0E"/>
                        </a:buClr>
                        <a:buSzPts val="1600"/>
                        <a:buFont typeface="Calibri"/>
                        <a:buNone/>
                      </a:pPr>
                      <a:r>
                        <a:rPr lang="en-US" sz="2100" u="none" cap="none" strike="noStrike">
                          <a:solidFill>
                            <a:srgbClr val="2C1A0E"/>
                          </a:solidFill>
                          <a:latin typeface="Garamond"/>
                          <a:ea typeface="Garamond"/>
                          <a:cs typeface="Garamond"/>
                          <a:sym typeface="Garamond"/>
                        </a:rPr>
                        <a:t>Finding the right guideline</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c>
                  <a:txBody>
                    <a:bodyPr/>
                    <a:lstStyle/>
                    <a:p>
                      <a:pPr indent="0" lvl="0" marL="0" marR="0" rtl="0" algn="ctr">
                        <a:spcBef>
                          <a:spcPts val="0"/>
                        </a:spcBef>
                        <a:spcAft>
                          <a:spcPts val="0"/>
                        </a:spcAft>
                        <a:buClr>
                          <a:srgbClr val="2C1A0E"/>
                        </a:buClr>
                        <a:buSzPts val="1600"/>
                        <a:buFont typeface="Calibri"/>
                        <a:buNone/>
                      </a:pPr>
                      <a:r>
                        <a:rPr lang="en-US" sz="2100" u="none" cap="none" strike="noStrike">
                          <a:solidFill>
                            <a:srgbClr val="2C1A0E"/>
                          </a:solidFill>
                          <a:latin typeface="Garamond"/>
                          <a:ea typeface="Garamond"/>
                          <a:cs typeface="Garamond"/>
                          <a:sym typeface="Garamond"/>
                        </a:rPr>
                        <a:t>16</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r>
              <a:tr h="832475">
                <a:tc>
                  <a:txBody>
                    <a:bodyPr/>
                    <a:lstStyle/>
                    <a:p>
                      <a:pPr indent="0" lvl="0" marL="0" marR="0" rtl="0" algn="l">
                        <a:spcBef>
                          <a:spcPts val="0"/>
                        </a:spcBef>
                        <a:spcAft>
                          <a:spcPts val="0"/>
                        </a:spcAft>
                        <a:buClr>
                          <a:srgbClr val="2C1A0E"/>
                        </a:buClr>
                        <a:buSzPts val="1600"/>
                        <a:buFont typeface="Calibri"/>
                        <a:buNone/>
                      </a:pPr>
                      <a:r>
                        <a:rPr lang="en-US" sz="2100" u="none" cap="none" strike="noStrike">
                          <a:solidFill>
                            <a:srgbClr val="2C1A0E"/>
                          </a:solidFill>
                          <a:latin typeface="Garamond"/>
                          <a:ea typeface="Garamond"/>
                          <a:cs typeface="Garamond"/>
                          <a:sym typeface="Garamond"/>
                        </a:rPr>
                        <a:t>The full workflow</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ctr">
                        <a:spcBef>
                          <a:spcPts val="0"/>
                        </a:spcBef>
                        <a:spcAft>
                          <a:spcPts val="0"/>
                        </a:spcAft>
                        <a:buClr>
                          <a:srgbClr val="2C1A0E"/>
                        </a:buClr>
                        <a:buSzPts val="1600"/>
                        <a:buFont typeface="Calibri"/>
                        <a:buNone/>
                      </a:pPr>
                      <a:r>
                        <a:rPr lang="en-US" sz="2100" u="none" cap="none" strike="noStrike">
                          <a:solidFill>
                            <a:srgbClr val="2C1A0E"/>
                          </a:solidFill>
                          <a:latin typeface="Garamond"/>
                          <a:ea typeface="Garamond"/>
                          <a:cs typeface="Garamond"/>
                          <a:sym typeface="Garamond"/>
                        </a:rPr>
                        <a:t>23</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r>
              <a:tr h="832475">
                <a:tc>
                  <a:txBody>
                    <a:bodyPr/>
                    <a:lstStyle/>
                    <a:p>
                      <a:pPr indent="0" lvl="0" marL="0" marR="0" rtl="0" algn="l">
                        <a:spcBef>
                          <a:spcPts val="0"/>
                        </a:spcBef>
                        <a:spcAft>
                          <a:spcPts val="0"/>
                        </a:spcAft>
                        <a:buClr>
                          <a:srgbClr val="2C1A0E"/>
                        </a:buClr>
                        <a:buSzPts val="1600"/>
                        <a:buFont typeface="Calibri"/>
                        <a:buNone/>
                      </a:pPr>
                      <a:r>
                        <a:rPr lang="en-US" sz="2100" u="none" cap="none" strike="noStrike">
                          <a:solidFill>
                            <a:srgbClr val="2C1A0E"/>
                          </a:solidFill>
                          <a:latin typeface="Garamond"/>
                          <a:ea typeface="Garamond"/>
                          <a:cs typeface="Garamond"/>
                          <a:sym typeface="Garamond"/>
                        </a:rPr>
                        <a:t>The sanity check</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c>
                  <a:txBody>
                    <a:bodyPr/>
                    <a:lstStyle/>
                    <a:p>
                      <a:pPr indent="0" lvl="0" marL="0" marR="0" rtl="0" algn="ctr">
                        <a:spcBef>
                          <a:spcPts val="0"/>
                        </a:spcBef>
                        <a:spcAft>
                          <a:spcPts val="0"/>
                        </a:spcAft>
                        <a:buClr>
                          <a:srgbClr val="2C1A0E"/>
                        </a:buClr>
                        <a:buSzPts val="1600"/>
                        <a:buFont typeface="Calibri"/>
                        <a:buNone/>
                      </a:pPr>
                      <a:r>
                        <a:rPr lang="en-US" sz="2100" u="none" cap="none" strike="noStrike">
                          <a:solidFill>
                            <a:srgbClr val="2C1A0E"/>
                          </a:solidFill>
                          <a:latin typeface="Garamond"/>
                          <a:ea typeface="Garamond"/>
                          <a:cs typeface="Garamond"/>
                          <a:sym typeface="Garamond"/>
                        </a:rPr>
                        <a:t>15</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r>
              <a:tr h="832475">
                <a:tc>
                  <a:txBody>
                    <a:bodyPr/>
                    <a:lstStyle/>
                    <a:p>
                      <a:pPr indent="0" lvl="0" marL="0" marR="0" rtl="0" algn="l">
                        <a:spcBef>
                          <a:spcPts val="0"/>
                        </a:spcBef>
                        <a:spcAft>
                          <a:spcPts val="0"/>
                        </a:spcAft>
                        <a:buClr>
                          <a:srgbClr val="2C1A0E"/>
                        </a:buClr>
                        <a:buSzPts val="1600"/>
                        <a:buFont typeface="Calibri"/>
                        <a:buNone/>
                      </a:pPr>
                      <a:r>
                        <a:rPr lang="en-US" sz="2100" u="none" cap="none" strike="noStrike">
                          <a:solidFill>
                            <a:srgbClr val="2C1A0E"/>
                          </a:solidFill>
                          <a:latin typeface="Garamond"/>
                          <a:ea typeface="Garamond"/>
                          <a:cs typeface="Garamond"/>
                          <a:sym typeface="Garamond"/>
                        </a:rPr>
                        <a:t>The app screens</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ctr">
                        <a:spcBef>
                          <a:spcPts val="0"/>
                        </a:spcBef>
                        <a:spcAft>
                          <a:spcPts val="0"/>
                        </a:spcAft>
                        <a:buClr>
                          <a:srgbClr val="2C1A0E"/>
                        </a:buClr>
                        <a:buSzPts val="1600"/>
                        <a:buFont typeface="Calibri"/>
                        <a:buNone/>
                      </a:pPr>
                      <a:r>
                        <a:rPr lang="en-US" sz="2100" u="none" cap="none" strike="noStrike">
                          <a:solidFill>
                            <a:srgbClr val="2C1A0E"/>
                          </a:solidFill>
                          <a:latin typeface="Garamond"/>
                          <a:ea typeface="Garamond"/>
                          <a:cs typeface="Garamond"/>
                          <a:sym typeface="Garamond"/>
                        </a:rPr>
                        <a:t>14</a:t>
                      </a:r>
                      <a:endParaRPr sz="21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r>
              <a:tr h="832475">
                <a:tc>
                  <a:txBody>
                    <a:bodyPr/>
                    <a:lstStyle/>
                    <a:p>
                      <a:pPr indent="0" lvl="0" marL="0" marR="0" rtl="0" algn="l">
                        <a:spcBef>
                          <a:spcPts val="0"/>
                        </a:spcBef>
                        <a:spcAft>
                          <a:spcPts val="0"/>
                        </a:spcAft>
                        <a:buClr>
                          <a:srgbClr val="F5C784"/>
                        </a:buClr>
                        <a:buSzPts val="1800"/>
                        <a:buFont typeface="Garamond"/>
                        <a:buNone/>
                      </a:pPr>
                      <a:r>
                        <a:rPr b="1" i="1" lang="en-US" sz="2700" u="none" cap="none" strike="noStrike">
                          <a:solidFill>
                            <a:srgbClr val="F5C784"/>
                          </a:solidFill>
                          <a:latin typeface="Garamond"/>
                          <a:ea typeface="Garamond"/>
                          <a:cs typeface="Garamond"/>
                          <a:sym typeface="Garamond"/>
                        </a:rPr>
                        <a:t>All passing</a:t>
                      </a:r>
                      <a:endParaRPr sz="27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c>
                  <a:txBody>
                    <a:bodyPr/>
                    <a:lstStyle/>
                    <a:p>
                      <a:pPr indent="0" lvl="0" marL="0" marR="0" rtl="0" algn="ctr">
                        <a:spcBef>
                          <a:spcPts val="0"/>
                        </a:spcBef>
                        <a:spcAft>
                          <a:spcPts val="0"/>
                        </a:spcAft>
                        <a:buClr>
                          <a:srgbClr val="F5C784"/>
                        </a:buClr>
                        <a:buSzPts val="2000"/>
                        <a:buFont typeface="Garamond"/>
                        <a:buNone/>
                      </a:pPr>
                      <a:r>
                        <a:rPr b="1" lang="en-US" sz="2700" u="none" cap="none" strike="noStrike">
                          <a:solidFill>
                            <a:srgbClr val="F5C784"/>
                          </a:solidFill>
                          <a:latin typeface="Garamond"/>
                          <a:ea typeface="Garamond"/>
                          <a:cs typeface="Garamond"/>
                          <a:sym typeface="Garamond"/>
                        </a:rPr>
                        <a:t>9</a:t>
                      </a:r>
                      <a:r>
                        <a:rPr b="1" lang="en-US" sz="2700">
                          <a:solidFill>
                            <a:srgbClr val="F5C784"/>
                          </a:solidFill>
                          <a:latin typeface="Garamond"/>
                          <a:ea typeface="Garamond"/>
                          <a:cs typeface="Garamond"/>
                          <a:sym typeface="Garamond"/>
                        </a:rPr>
                        <a:t>9</a:t>
                      </a:r>
                      <a:endParaRPr sz="27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r>
            </a:tbl>
          </a:graphicData>
        </a:graphic>
      </p:graphicFrame>
      <p:sp>
        <p:nvSpPr>
          <p:cNvPr id="361" name="Google Shape;361;g3e868c9b429_1_108"/>
          <p:cNvSpPr/>
          <p:nvPr/>
        </p:nvSpPr>
        <p:spPr>
          <a:xfrm>
            <a:off x="685800" y="8161020"/>
            <a:ext cx="6240600" cy="82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C784"/>
              </a:buClr>
              <a:buSzPts val="4500"/>
              <a:buFont typeface="Garamond"/>
              <a:buNone/>
            </a:pPr>
            <a:r>
              <a:rPr b="1" lang="en-US" sz="4500">
                <a:solidFill>
                  <a:srgbClr val="F5C784"/>
                </a:solidFill>
                <a:latin typeface="Garamond"/>
                <a:ea typeface="Garamond"/>
                <a:cs typeface="Garamond"/>
                <a:sym typeface="Garamond"/>
              </a:rPr>
              <a:t>99</a:t>
            </a:r>
            <a:r>
              <a:rPr i="1" lang="en-US" sz="2300">
                <a:solidFill>
                  <a:srgbClr val="C6B49A"/>
                </a:solidFill>
                <a:latin typeface="Garamond"/>
                <a:ea typeface="Garamond"/>
                <a:cs typeface="Garamond"/>
                <a:sym typeface="Garamond"/>
              </a:rPr>
              <a:t>  checks, all passing</a:t>
            </a:r>
            <a:endParaRPr sz="4500">
              <a:solidFill>
                <a:schemeClr val="dk1"/>
              </a:solidFill>
              <a:latin typeface="Calibri"/>
              <a:ea typeface="Calibri"/>
              <a:cs typeface="Calibri"/>
              <a:sym typeface="Calibri"/>
            </a:endParaRPr>
          </a:p>
        </p:txBody>
      </p:sp>
      <p:sp>
        <p:nvSpPr>
          <p:cNvPr id="362" name="Google Shape;362;g3e868c9b429_1_108"/>
          <p:cNvSpPr/>
          <p:nvPr/>
        </p:nvSpPr>
        <p:spPr>
          <a:xfrm>
            <a:off x="7338060" y="2221992"/>
            <a:ext cx="10259700" cy="67623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63" name="Google Shape;363;g3e868c9b429_1_108"/>
          <p:cNvSpPr/>
          <p:nvPr/>
        </p:nvSpPr>
        <p:spPr>
          <a:xfrm>
            <a:off x="7338060" y="2221992"/>
            <a:ext cx="10259700" cy="150900"/>
          </a:xfrm>
          <a:prstGeom prst="rect">
            <a:avLst/>
          </a:prstGeom>
          <a:solidFill>
            <a:srgbClr val="B85042"/>
          </a:solidFill>
          <a:ln cap="flat" cmpd="sng" w="19050">
            <a:solidFill>
              <a:srgbClr val="B8504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64" name="Google Shape;364;g3e868c9b429_1_108"/>
          <p:cNvSpPr/>
          <p:nvPr/>
        </p:nvSpPr>
        <p:spPr>
          <a:xfrm>
            <a:off x="7639812" y="2496312"/>
            <a:ext cx="603600" cy="603600"/>
          </a:xfrm>
          <a:prstGeom prst="ellipse">
            <a:avLst/>
          </a:prstGeom>
          <a:solidFill>
            <a:srgbClr val="B85042"/>
          </a:solidFill>
          <a:ln cap="flat" cmpd="sng" w="19050">
            <a:solidFill>
              <a:srgbClr val="B8504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365" name="Google Shape;365;g3e868c9b429_1_108"/>
          <p:cNvPicPr preferRelativeResize="0"/>
          <p:nvPr/>
        </p:nvPicPr>
        <p:blipFill rotWithShape="1">
          <a:blip r:embed="rId4">
            <a:alphaModFix/>
          </a:blip>
          <a:srcRect b="0" l="0" r="0" t="0"/>
          <a:stretch/>
        </p:blipFill>
        <p:spPr>
          <a:xfrm>
            <a:off x="7784654" y="2641154"/>
            <a:ext cx="313822" cy="313822"/>
          </a:xfrm>
          <a:prstGeom prst="rect">
            <a:avLst/>
          </a:prstGeom>
          <a:noFill/>
          <a:ln>
            <a:noFill/>
          </a:ln>
        </p:spPr>
      </p:pic>
      <p:sp>
        <p:nvSpPr>
          <p:cNvPr id="366" name="Google Shape;366;g3e868c9b429_1_108"/>
          <p:cNvSpPr/>
          <p:nvPr/>
        </p:nvSpPr>
        <p:spPr>
          <a:xfrm>
            <a:off x="8421624" y="2427732"/>
            <a:ext cx="82296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300"/>
              <a:buFont typeface="Garamond"/>
              <a:buNone/>
            </a:pPr>
            <a:r>
              <a:rPr b="1" lang="en-US" sz="2300">
                <a:solidFill>
                  <a:srgbClr val="2C1A0E"/>
                </a:solidFill>
                <a:latin typeface="Garamond"/>
                <a:ea typeface="Garamond"/>
                <a:cs typeface="Garamond"/>
                <a:sym typeface="Garamond"/>
              </a:rPr>
              <a:t>Eight failures we planned for</a:t>
            </a:r>
            <a:endParaRPr sz="2300">
              <a:solidFill>
                <a:schemeClr val="dk1"/>
              </a:solidFill>
              <a:latin typeface="Calibri"/>
              <a:ea typeface="Calibri"/>
              <a:cs typeface="Calibri"/>
              <a:sym typeface="Calibri"/>
            </a:endParaRPr>
          </a:p>
        </p:txBody>
      </p:sp>
      <p:sp>
        <p:nvSpPr>
          <p:cNvPr id="367" name="Google Shape;367;g3e868c9b429_1_108"/>
          <p:cNvSpPr/>
          <p:nvPr/>
        </p:nvSpPr>
        <p:spPr>
          <a:xfrm>
            <a:off x="7708392" y="3497580"/>
            <a:ext cx="9532800" cy="5349300"/>
          </a:xfrm>
          <a:prstGeom prst="rect">
            <a:avLst/>
          </a:prstGeom>
          <a:noFill/>
          <a:ln>
            <a:noFill/>
          </a:ln>
        </p:spPr>
        <p:txBody>
          <a:bodyPr anchorCtr="0" anchor="t" bIns="0" lIns="0" spcFirstLastPara="1" rIns="0" wrap="square" tIns="0">
            <a:noAutofit/>
          </a:bodyPr>
          <a:lstStyle/>
          <a:p>
            <a:pPr indent="-304800" lvl="0" marL="254000" marR="0" rtl="0" algn="l">
              <a:spcBef>
                <a:spcPts val="0"/>
              </a:spcBef>
              <a:spcAft>
                <a:spcPts val="0"/>
              </a:spcAft>
              <a:buClr>
                <a:srgbClr val="2C1A0E"/>
              </a:buClr>
              <a:buSzPts val="2600"/>
              <a:buFont typeface="Calibri"/>
              <a:buChar char="•"/>
            </a:pPr>
            <a:r>
              <a:rPr b="1" lang="en-US" sz="2600">
                <a:solidFill>
                  <a:srgbClr val="2C1A0E"/>
                </a:solidFill>
                <a:latin typeface="Garamond"/>
                <a:ea typeface="Garamond"/>
                <a:cs typeface="Garamond"/>
                <a:sym typeface="Garamond"/>
              </a:rPr>
              <a:t>A drink isn’t recognised  </a:t>
            </a:r>
            <a:r>
              <a:rPr lang="en-US" sz="2600">
                <a:solidFill>
                  <a:srgbClr val="5E4A35"/>
                </a:solidFill>
                <a:latin typeface="Garamond"/>
                <a:ea typeface="Garamond"/>
                <a:cs typeface="Garamond"/>
                <a:sym typeface="Garamond"/>
              </a:rPr>
              <a:t>→ ask the customer to clarify</a:t>
            </a:r>
            <a:endParaRPr sz="2600">
              <a:solidFill>
                <a:schemeClr val="dk1"/>
              </a:solidFill>
              <a:latin typeface="Garamond"/>
              <a:ea typeface="Garamond"/>
              <a:cs typeface="Garamond"/>
              <a:sym typeface="Garamond"/>
            </a:endParaRPr>
          </a:p>
          <a:p>
            <a:pPr indent="-304800" lvl="0" marL="254000" marR="0" rtl="0" algn="l">
              <a:spcBef>
                <a:spcPts val="0"/>
              </a:spcBef>
              <a:spcAft>
                <a:spcPts val="0"/>
              </a:spcAft>
              <a:buClr>
                <a:srgbClr val="2C1A0E"/>
              </a:buClr>
              <a:buSzPts val="2600"/>
              <a:buFont typeface="Calibri"/>
              <a:buChar char="•"/>
            </a:pPr>
            <a:r>
              <a:rPr b="1" lang="en-US" sz="2600">
                <a:solidFill>
                  <a:srgbClr val="2C1A0E"/>
                </a:solidFill>
                <a:latin typeface="Garamond"/>
                <a:ea typeface="Garamond"/>
                <a:cs typeface="Garamond"/>
                <a:sym typeface="Garamond"/>
              </a:rPr>
              <a:t>Stock data is missing for a date  </a:t>
            </a:r>
            <a:r>
              <a:rPr lang="en-US" sz="2600">
                <a:solidFill>
                  <a:srgbClr val="5E4A35"/>
                </a:solidFill>
                <a:latin typeface="Garamond"/>
                <a:ea typeface="Garamond"/>
                <a:cs typeface="Garamond"/>
                <a:sym typeface="Garamond"/>
              </a:rPr>
              <a:t>→ use the most recent figures and say so</a:t>
            </a:r>
            <a:endParaRPr sz="2600">
              <a:solidFill>
                <a:schemeClr val="dk1"/>
              </a:solidFill>
              <a:latin typeface="Garamond"/>
              <a:ea typeface="Garamond"/>
              <a:cs typeface="Garamond"/>
              <a:sym typeface="Garamond"/>
            </a:endParaRPr>
          </a:p>
          <a:p>
            <a:pPr indent="-304800" lvl="0" marL="254000" marR="0" rtl="0" algn="l">
              <a:spcBef>
                <a:spcPts val="0"/>
              </a:spcBef>
              <a:spcAft>
                <a:spcPts val="0"/>
              </a:spcAft>
              <a:buClr>
                <a:srgbClr val="2C1A0E"/>
              </a:buClr>
              <a:buSzPts val="2600"/>
              <a:buFont typeface="Calibri"/>
              <a:buChar char="•"/>
            </a:pPr>
            <a:r>
              <a:rPr b="1" lang="en-US" sz="2600">
                <a:solidFill>
                  <a:srgbClr val="2C1A0E"/>
                </a:solidFill>
                <a:latin typeface="Garamond"/>
                <a:ea typeface="Garamond"/>
                <a:cs typeface="Garamond"/>
                <a:sym typeface="Garamond"/>
              </a:rPr>
              <a:t>An out-of-stock drink gets suggested  </a:t>
            </a:r>
            <a:r>
              <a:rPr lang="en-US" sz="2600">
                <a:solidFill>
                  <a:srgbClr val="5E4A35"/>
                </a:solidFill>
                <a:latin typeface="Garamond"/>
                <a:ea typeface="Garamond"/>
                <a:cs typeface="Garamond"/>
                <a:sym typeface="Garamond"/>
              </a:rPr>
              <a:t>→ it’s filtered out before it’s offered</a:t>
            </a:r>
            <a:endParaRPr sz="2600">
              <a:solidFill>
                <a:schemeClr val="dk1"/>
              </a:solidFill>
              <a:latin typeface="Garamond"/>
              <a:ea typeface="Garamond"/>
              <a:cs typeface="Garamond"/>
              <a:sym typeface="Garamond"/>
            </a:endParaRPr>
          </a:p>
          <a:p>
            <a:pPr indent="-304800" lvl="0" marL="254000" marR="0" rtl="0" algn="l">
              <a:spcBef>
                <a:spcPts val="0"/>
              </a:spcBef>
              <a:spcAft>
                <a:spcPts val="0"/>
              </a:spcAft>
              <a:buClr>
                <a:srgbClr val="2C1A0E"/>
              </a:buClr>
              <a:buSzPts val="2600"/>
              <a:buFont typeface="Calibri"/>
              <a:buChar char="•"/>
            </a:pPr>
            <a:r>
              <a:rPr b="1" lang="en-US" sz="2600">
                <a:solidFill>
                  <a:srgbClr val="2C1A0E"/>
                </a:solidFill>
                <a:latin typeface="Garamond"/>
                <a:ea typeface="Garamond"/>
                <a:cs typeface="Garamond"/>
                <a:sym typeface="Garamond"/>
              </a:rPr>
              <a:t>A staffing gap is ignored in a rush  </a:t>
            </a:r>
            <a:r>
              <a:rPr lang="en-US" sz="2600">
                <a:solidFill>
                  <a:srgbClr val="5E4A35"/>
                </a:solidFill>
                <a:latin typeface="Garamond"/>
                <a:ea typeface="Garamond"/>
                <a:cs typeface="Garamond"/>
                <a:sym typeface="Garamond"/>
              </a:rPr>
              <a:t>→ the sanity check catches the contradiction</a:t>
            </a:r>
            <a:endParaRPr sz="2600">
              <a:solidFill>
                <a:schemeClr val="dk1"/>
              </a:solidFill>
              <a:latin typeface="Garamond"/>
              <a:ea typeface="Garamond"/>
              <a:cs typeface="Garamond"/>
              <a:sym typeface="Garamond"/>
            </a:endParaRPr>
          </a:p>
          <a:p>
            <a:pPr indent="-304800" lvl="0" marL="254000" marR="0" rtl="0" algn="l">
              <a:spcBef>
                <a:spcPts val="0"/>
              </a:spcBef>
              <a:spcAft>
                <a:spcPts val="0"/>
              </a:spcAft>
              <a:buClr>
                <a:srgbClr val="2C1A0E"/>
              </a:buClr>
              <a:buSzPts val="2600"/>
              <a:buFont typeface="Calibri"/>
              <a:buChar char="•"/>
            </a:pPr>
            <a:r>
              <a:rPr b="1" lang="en-US" sz="2600">
                <a:solidFill>
                  <a:srgbClr val="2C1A0E"/>
                </a:solidFill>
                <a:latin typeface="Garamond"/>
                <a:ea typeface="Garamond"/>
                <a:cs typeface="Garamond"/>
                <a:sym typeface="Garamond"/>
              </a:rPr>
              <a:t>An allergy isn’t escalated  </a:t>
            </a:r>
            <a:r>
              <a:rPr lang="en-US" sz="2600">
                <a:solidFill>
                  <a:srgbClr val="5E4A35"/>
                </a:solidFill>
                <a:latin typeface="Garamond"/>
                <a:ea typeface="Garamond"/>
                <a:cs typeface="Garamond"/>
                <a:sym typeface="Garamond"/>
              </a:rPr>
              <a:t>→ the safeguard forces a review, every time</a:t>
            </a:r>
            <a:endParaRPr sz="2600">
              <a:solidFill>
                <a:schemeClr val="dk1"/>
              </a:solidFill>
              <a:latin typeface="Garamond"/>
              <a:ea typeface="Garamond"/>
              <a:cs typeface="Garamond"/>
              <a:sym typeface="Garamond"/>
            </a:endParaRPr>
          </a:p>
          <a:p>
            <a:pPr indent="-304800" lvl="0" marL="254000" marR="0" rtl="0" algn="l">
              <a:spcBef>
                <a:spcPts val="0"/>
              </a:spcBef>
              <a:spcAft>
                <a:spcPts val="0"/>
              </a:spcAft>
              <a:buClr>
                <a:srgbClr val="2C1A0E"/>
              </a:buClr>
              <a:buSzPts val="2600"/>
              <a:buFont typeface="Calibri"/>
              <a:buChar char="•"/>
            </a:pPr>
            <a:r>
              <a:rPr b="1" lang="en-US" sz="2600">
                <a:solidFill>
                  <a:srgbClr val="2C1A0E"/>
                </a:solidFill>
                <a:latin typeface="Garamond"/>
                <a:ea typeface="Garamond"/>
                <a:cs typeface="Garamond"/>
                <a:sym typeface="Garamond"/>
              </a:rPr>
              <a:t>The wrong guideline is pulled  </a:t>
            </a:r>
            <a:r>
              <a:rPr lang="en-US" sz="2600">
                <a:solidFill>
                  <a:srgbClr val="5E4A35"/>
                </a:solidFill>
                <a:latin typeface="Garamond"/>
                <a:ea typeface="Garamond"/>
                <a:cs typeface="Garamond"/>
                <a:sym typeface="Garamond"/>
              </a:rPr>
              <a:t>→ relevance scoring, checked for each one</a:t>
            </a:r>
            <a:endParaRPr sz="2600">
              <a:solidFill>
                <a:schemeClr val="dk1"/>
              </a:solidFill>
              <a:latin typeface="Garamond"/>
              <a:ea typeface="Garamond"/>
              <a:cs typeface="Garamond"/>
              <a:sym typeface="Garamond"/>
            </a:endParaRPr>
          </a:p>
          <a:p>
            <a:pPr indent="-304800" lvl="0" marL="254000" marR="0" rtl="0" algn="l">
              <a:spcBef>
                <a:spcPts val="0"/>
              </a:spcBef>
              <a:spcAft>
                <a:spcPts val="0"/>
              </a:spcAft>
              <a:buClr>
                <a:srgbClr val="2C1A0E"/>
              </a:buClr>
              <a:buSzPts val="2600"/>
              <a:buFont typeface="Calibri"/>
              <a:buChar char="•"/>
            </a:pPr>
            <a:r>
              <a:rPr b="1" lang="en-US" sz="2600">
                <a:solidFill>
                  <a:srgbClr val="2C1A0E"/>
                </a:solidFill>
                <a:latin typeface="Garamond"/>
                <a:ea typeface="Garamond"/>
                <a:cs typeface="Garamond"/>
                <a:sym typeface="Garamond"/>
              </a:rPr>
              <a:t>The evidence is thin  </a:t>
            </a:r>
            <a:r>
              <a:rPr lang="en-US" sz="2600">
                <a:solidFill>
                  <a:srgbClr val="5E4A35"/>
                </a:solidFill>
                <a:latin typeface="Garamond"/>
                <a:ea typeface="Garamond"/>
                <a:cs typeface="Garamond"/>
                <a:sym typeface="Garamond"/>
              </a:rPr>
              <a:t>→ it’s flagged “weak,” not shown as solid</a:t>
            </a:r>
            <a:endParaRPr sz="2600">
              <a:solidFill>
                <a:schemeClr val="dk1"/>
              </a:solidFill>
              <a:latin typeface="Garamond"/>
              <a:ea typeface="Garamond"/>
              <a:cs typeface="Garamond"/>
              <a:sym typeface="Garamond"/>
            </a:endParaRPr>
          </a:p>
          <a:p>
            <a:pPr indent="-304800" lvl="0" marL="254000" marR="0" rtl="0" algn="l">
              <a:spcBef>
                <a:spcPts val="0"/>
              </a:spcBef>
              <a:spcAft>
                <a:spcPts val="0"/>
              </a:spcAft>
              <a:buClr>
                <a:srgbClr val="2C1A0E"/>
              </a:buClr>
              <a:buSzPts val="2600"/>
              <a:buFont typeface="Calibri"/>
              <a:buChar char="•"/>
            </a:pPr>
            <a:r>
              <a:rPr b="1" lang="en-US" sz="2600">
                <a:solidFill>
                  <a:srgbClr val="2C1A0E"/>
                </a:solidFill>
                <a:latin typeface="Garamond"/>
                <a:ea typeface="Garamond"/>
                <a:cs typeface="Garamond"/>
                <a:sym typeface="Garamond"/>
              </a:rPr>
              <a:t>A false allergy alert from a filename  </a:t>
            </a:r>
            <a:r>
              <a:rPr lang="en-US" sz="2600">
                <a:solidFill>
                  <a:srgbClr val="5E4A35"/>
                </a:solidFill>
                <a:latin typeface="Garamond"/>
                <a:ea typeface="Garamond"/>
                <a:cs typeface="Garamond"/>
                <a:sym typeface="Garamond"/>
              </a:rPr>
              <a:t>→ the check now reads only the order itself</a:t>
            </a:r>
            <a:endParaRPr sz="2600">
              <a:solidFill>
                <a:schemeClr val="dk1"/>
              </a:solidFill>
              <a:latin typeface="Garamond"/>
              <a:ea typeface="Garamond"/>
              <a:cs typeface="Garamond"/>
              <a:sym typeface="Garamond"/>
            </a:endParaRPr>
          </a:p>
        </p:txBody>
      </p:sp>
      <p:sp>
        <p:nvSpPr>
          <p:cNvPr id="368" name="Google Shape;368;g3e868c9b429_1_108"/>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369" name="Google Shape;369;g3e868c9b429_1_108"/>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374" name="Shape 374"/>
        <p:cNvGrpSpPr/>
        <p:nvPr/>
      </p:nvGrpSpPr>
      <p:grpSpPr>
        <a:xfrm>
          <a:off x="0" y="0"/>
          <a:ext cx="0" cy="0"/>
          <a:chOff x="0" y="0"/>
          <a:chExt cx="0" cy="0"/>
        </a:xfrm>
      </p:grpSpPr>
      <p:sp>
        <p:nvSpPr>
          <p:cNvPr id="375" name="Google Shape;375;g3e868c9b429_1_126"/>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376" name="Google Shape;376;g3e868c9b429_1_126"/>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377" name="Google Shape;377;g3e868c9b429_1_126"/>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Impact — Time, Cost &amp; Quality</a:t>
            </a:r>
            <a:endParaRPr sz="4700">
              <a:solidFill>
                <a:schemeClr val="dk1"/>
              </a:solidFill>
              <a:latin typeface="Calibri"/>
              <a:ea typeface="Calibri"/>
              <a:cs typeface="Calibri"/>
              <a:sym typeface="Calibri"/>
            </a:endParaRPr>
          </a:p>
        </p:txBody>
      </p:sp>
      <p:sp>
        <p:nvSpPr>
          <p:cNvPr id="378" name="Google Shape;378;g3e868c9b429_1_126"/>
          <p:cNvSpPr/>
          <p:nvPr/>
        </p:nvSpPr>
        <p:spPr>
          <a:xfrm>
            <a:off x="1810512" y="1536192"/>
            <a:ext cx="157734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B49A"/>
              </a:buClr>
              <a:buSzPts val="2000"/>
              <a:buFont typeface="Garamond"/>
              <a:buNone/>
            </a:pPr>
            <a:r>
              <a:rPr i="1" lang="en-US" sz="2000">
                <a:solidFill>
                  <a:srgbClr val="C6B49A"/>
                </a:solidFill>
                <a:latin typeface="Garamond"/>
                <a:ea typeface="Garamond"/>
                <a:cs typeface="Garamond"/>
                <a:sym typeface="Garamond"/>
              </a:rPr>
              <a:t>Before-and-after estimates with honest ranges — educational assumptions only</a:t>
            </a:r>
            <a:endParaRPr sz="2000">
              <a:solidFill>
                <a:schemeClr val="dk1"/>
              </a:solidFill>
              <a:latin typeface="Calibri"/>
              <a:ea typeface="Calibri"/>
              <a:cs typeface="Calibri"/>
              <a:sym typeface="Calibri"/>
            </a:endParaRPr>
          </a:p>
        </p:txBody>
      </p:sp>
      <p:sp>
        <p:nvSpPr>
          <p:cNvPr id="379" name="Google Shape;379;g3e868c9b429_1_126"/>
          <p:cNvSpPr/>
          <p:nvPr/>
        </p:nvSpPr>
        <p:spPr>
          <a:xfrm>
            <a:off x="685800" y="2221992"/>
            <a:ext cx="4059900" cy="25377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80" name="Google Shape;380;g3e868c9b429_1_126"/>
          <p:cNvSpPr/>
          <p:nvPr/>
        </p:nvSpPr>
        <p:spPr>
          <a:xfrm>
            <a:off x="685800" y="2221992"/>
            <a:ext cx="40599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81" name="Google Shape;381;g3e868c9b429_1_126"/>
          <p:cNvSpPr/>
          <p:nvPr/>
        </p:nvSpPr>
        <p:spPr>
          <a:xfrm>
            <a:off x="685800" y="2688336"/>
            <a:ext cx="4059900" cy="109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943A"/>
              </a:buClr>
              <a:buSzPts val="5100"/>
              <a:buFont typeface="Garamond"/>
              <a:buNone/>
            </a:pPr>
            <a:r>
              <a:rPr b="1" lang="en-US" sz="5100">
                <a:solidFill>
                  <a:srgbClr val="C8943A"/>
                </a:solidFill>
                <a:latin typeface="Garamond"/>
                <a:ea typeface="Garamond"/>
                <a:cs typeface="Garamond"/>
                <a:sym typeface="Garamond"/>
              </a:rPr>
              <a:t>~60%</a:t>
            </a:r>
            <a:endParaRPr sz="5100">
              <a:solidFill>
                <a:schemeClr val="dk1"/>
              </a:solidFill>
              <a:latin typeface="Calibri"/>
              <a:ea typeface="Calibri"/>
              <a:cs typeface="Calibri"/>
              <a:sym typeface="Calibri"/>
            </a:endParaRPr>
          </a:p>
        </p:txBody>
      </p:sp>
      <p:sp>
        <p:nvSpPr>
          <p:cNvPr id="382" name="Google Shape;382;g3e868c9b429_1_126"/>
          <p:cNvSpPr/>
          <p:nvPr/>
        </p:nvSpPr>
        <p:spPr>
          <a:xfrm>
            <a:off x="850392" y="3813048"/>
            <a:ext cx="3731100" cy="823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4A35"/>
              </a:buClr>
              <a:buSzPts val="1700"/>
              <a:buFont typeface="Calibri"/>
              <a:buNone/>
            </a:pPr>
            <a:r>
              <a:rPr lang="en-US" sz="2300">
                <a:solidFill>
                  <a:srgbClr val="5E4A35"/>
                </a:solidFill>
                <a:latin typeface="Garamond"/>
                <a:ea typeface="Garamond"/>
                <a:cs typeface="Garamond"/>
                <a:sym typeface="Garamond"/>
              </a:rPr>
              <a:t>less manager prep</a:t>
            </a:r>
            <a:endParaRPr sz="2300">
              <a:solidFill>
                <a:schemeClr val="dk1"/>
              </a:solidFill>
              <a:latin typeface="Garamond"/>
              <a:ea typeface="Garamond"/>
              <a:cs typeface="Garamond"/>
              <a:sym typeface="Garamond"/>
            </a:endParaRPr>
          </a:p>
        </p:txBody>
      </p:sp>
      <p:sp>
        <p:nvSpPr>
          <p:cNvPr id="383" name="Google Shape;383;g3e868c9b429_1_126"/>
          <p:cNvSpPr/>
          <p:nvPr/>
        </p:nvSpPr>
        <p:spPr>
          <a:xfrm>
            <a:off x="4965192" y="2221992"/>
            <a:ext cx="4059900" cy="25377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84" name="Google Shape;384;g3e868c9b429_1_126"/>
          <p:cNvSpPr/>
          <p:nvPr/>
        </p:nvSpPr>
        <p:spPr>
          <a:xfrm>
            <a:off x="4965192" y="2221992"/>
            <a:ext cx="4059900" cy="150900"/>
          </a:xfrm>
          <a:prstGeom prst="rect">
            <a:avLst/>
          </a:prstGeom>
          <a:solidFill>
            <a:srgbClr val="7B4A1E"/>
          </a:solidFill>
          <a:ln cap="flat" cmpd="sng" w="19050">
            <a:solidFill>
              <a:srgbClr val="7B4A1E"/>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85" name="Google Shape;385;g3e868c9b429_1_126"/>
          <p:cNvSpPr/>
          <p:nvPr/>
        </p:nvSpPr>
        <p:spPr>
          <a:xfrm>
            <a:off x="4965192" y="2688336"/>
            <a:ext cx="4059900" cy="109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4A1E"/>
              </a:buClr>
              <a:buSzPts val="5100"/>
              <a:buFont typeface="Garamond"/>
              <a:buNone/>
            </a:pPr>
            <a:r>
              <a:rPr b="1" lang="en-US" sz="5100">
                <a:solidFill>
                  <a:srgbClr val="7B4A1E"/>
                </a:solidFill>
                <a:latin typeface="Garamond"/>
                <a:ea typeface="Garamond"/>
                <a:cs typeface="Garamond"/>
                <a:sym typeface="Garamond"/>
              </a:rPr>
              <a:t>100%</a:t>
            </a:r>
            <a:endParaRPr sz="5100">
              <a:solidFill>
                <a:schemeClr val="dk1"/>
              </a:solidFill>
              <a:latin typeface="Calibri"/>
              <a:ea typeface="Calibri"/>
              <a:cs typeface="Calibri"/>
              <a:sym typeface="Calibri"/>
            </a:endParaRPr>
          </a:p>
        </p:txBody>
      </p:sp>
      <p:sp>
        <p:nvSpPr>
          <p:cNvPr id="386" name="Google Shape;386;g3e868c9b429_1_126"/>
          <p:cNvSpPr/>
          <p:nvPr/>
        </p:nvSpPr>
        <p:spPr>
          <a:xfrm>
            <a:off x="5129784" y="3813048"/>
            <a:ext cx="3731100" cy="823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4A35"/>
              </a:buClr>
              <a:buSzPts val="1700"/>
              <a:buFont typeface="Calibri"/>
              <a:buNone/>
            </a:pPr>
            <a:r>
              <a:rPr lang="en-US" sz="2300">
                <a:solidFill>
                  <a:srgbClr val="5E4A35"/>
                </a:solidFill>
                <a:latin typeface="Garamond"/>
                <a:ea typeface="Garamond"/>
                <a:cs typeface="Garamond"/>
                <a:sym typeface="Garamond"/>
              </a:rPr>
              <a:t>of orders checked (was ~60%)</a:t>
            </a:r>
            <a:endParaRPr sz="2300">
              <a:solidFill>
                <a:schemeClr val="dk1"/>
              </a:solidFill>
              <a:latin typeface="Garamond"/>
              <a:ea typeface="Garamond"/>
              <a:cs typeface="Garamond"/>
              <a:sym typeface="Garamond"/>
            </a:endParaRPr>
          </a:p>
        </p:txBody>
      </p:sp>
      <p:sp>
        <p:nvSpPr>
          <p:cNvPr id="387" name="Google Shape;387;g3e868c9b429_1_126"/>
          <p:cNvSpPr/>
          <p:nvPr/>
        </p:nvSpPr>
        <p:spPr>
          <a:xfrm>
            <a:off x="9244584" y="2221992"/>
            <a:ext cx="4059900" cy="25377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88" name="Google Shape;388;g3e868c9b429_1_126"/>
          <p:cNvSpPr/>
          <p:nvPr/>
        </p:nvSpPr>
        <p:spPr>
          <a:xfrm>
            <a:off x="9244584" y="2221992"/>
            <a:ext cx="40599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89" name="Google Shape;389;g3e868c9b429_1_126"/>
          <p:cNvSpPr/>
          <p:nvPr/>
        </p:nvSpPr>
        <p:spPr>
          <a:xfrm>
            <a:off x="9244584" y="2688336"/>
            <a:ext cx="4059900" cy="109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943A"/>
              </a:buClr>
              <a:buSzPts val="5100"/>
              <a:buFont typeface="Garamond"/>
              <a:buNone/>
            </a:pPr>
            <a:r>
              <a:rPr b="1" lang="en-US" sz="5100">
                <a:solidFill>
                  <a:srgbClr val="C8943A"/>
                </a:solidFill>
                <a:latin typeface="Garamond"/>
                <a:ea typeface="Garamond"/>
                <a:cs typeface="Garamond"/>
                <a:sym typeface="Garamond"/>
              </a:rPr>
              <a:t>85–90%</a:t>
            </a:r>
            <a:endParaRPr sz="5100">
              <a:solidFill>
                <a:schemeClr val="dk1"/>
              </a:solidFill>
              <a:latin typeface="Calibri"/>
              <a:ea typeface="Calibri"/>
              <a:cs typeface="Calibri"/>
              <a:sym typeface="Calibri"/>
            </a:endParaRPr>
          </a:p>
        </p:txBody>
      </p:sp>
      <p:sp>
        <p:nvSpPr>
          <p:cNvPr id="390" name="Google Shape;390;g3e868c9b429_1_126"/>
          <p:cNvSpPr/>
          <p:nvPr/>
        </p:nvSpPr>
        <p:spPr>
          <a:xfrm>
            <a:off x="9409176" y="3813048"/>
            <a:ext cx="3731100" cy="823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4A35"/>
              </a:buClr>
              <a:buSzPts val="1700"/>
              <a:buFont typeface="Calibri"/>
              <a:buNone/>
            </a:pPr>
            <a:r>
              <a:rPr lang="en-US" sz="2300">
                <a:solidFill>
                  <a:srgbClr val="5E4A35"/>
                </a:solidFill>
                <a:latin typeface="Garamond"/>
                <a:ea typeface="Garamond"/>
                <a:cs typeface="Garamond"/>
                <a:sym typeface="Garamond"/>
              </a:rPr>
              <a:t>drink picks right (was ~70%)</a:t>
            </a:r>
            <a:endParaRPr sz="2300">
              <a:solidFill>
                <a:schemeClr val="dk1"/>
              </a:solidFill>
              <a:latin typeface="Garamond"/>
              <a:ea typeface="Garamond"/>
              <a:cs typeface="Garamond"/>
              <a:sym typeface="Garamond"/>
            </a:endParaRPr>
          </a:p>
        </p:txBody>
      </p:sp>
      <p:sp>
        <p:nvSpPr>
          <p:cNvPr id="391" name="Google Shape;391;g3e868c9b429_1_126"/>
          <p:cNvSpPr/>
          <p:nvPr/>
        </p:nvSpPr>
        <p:spPr>
          <a:xfrm>
            <a:off x="13523976" y="2221992"/>
            <a:ext cx="4059900" cy="25377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92" name="Google Shape;392;g3e868c9b429_1_126"/>
          <p:cNvSpPr/>
          <p:nvPr/>
        </p:nvSpPr>
        <p:spPr>
          <a:xfrm>
            <a:off x="13523976" y="2221992"/>
            <a:ext cx="4059900" cy="150900"/>
          </a:xfrm>
          <a:prstGeom prst="rect">
            <a:avLst/>
          </a:prstGeom>
          <a:solidFill>
            <a:srgbClr val="7B4A1E"/>
          </a:solidFill>
          <a:ln cap="flat" cmpd="sng" w="19050">
            <a:solidFill>
              <a:srgbClr val="7B4A1E"/>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393" name="Google Shape;393;g3e868c9b429_1_126"/>
          <p:cNvSpPr/>
          <p:nvPr/>
        </p:nvSpPr>
        <p:spPr>
          <a:xfrm>
            <a:off x="13523976" y="2688336"/>
            <a:ext cx="4059900" cy="109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4A1E"/>
              </a:buClr>
              <a:buSzPts val="5100"/>
              <a:buFont typeface="Garamond"/>
              <a:buNone/>
            </a:pPr>
            <a:r>
              <a:rPr b="1" lang="en-US" sz="5100">
                <a:solidFill>
                  <a:srgbClr val="7B4A1E"/>
                </a:solidFill>
                <a:latin typeface="Garamond"/>
                <a:ea typeface="Garamond"/>
                <a:cs typeface="Garamond"/>
                <a:sym typeface="Garamond"/>
              </a:rPr>
              <a:t>100%</a:t>
            </a:r>
            <a:endParaRPr sz="5100">
              <a:solidFill>
                <a:schemeClr val="dk1"/>
              </a:solidFill>
              <a:latin typeface="Calibri"/>
              <a:ea typeface="Calibri"/>
              <a:cs typeface="Calibri"/>
              <a:sym typeface="Calibri"/>
            </a:endParaRPr>
          </a:p>
        </p:txBody>
      </p:sp>
      <p:sp>
        <p:nvSpPr>
          <p:cNvPr id="394" name="Google Shape;394;g3e868c9b429_1_126"/>
          <p:cNvSpPr/>
          <p:nvPr/>
        </p:nvSpPr>
        <p:spPr>
          <a:xfrm>
            <a:off x="13688568" y="3813048"/>
            <a:ext cx="3731100" cy="823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E4A35"/>
              </a:buClr>
              <a:buSzPts val="1700"/>
              <a:buFont typeface="Calibri"/>
              <a:buNone/>
            </a:pPr>
            <a:r>
              <a:rPr lang="en-US" sz="2300">
                <a:solidFill>
                  <a:srgbClr val="5E4A35"/>
                </a:solidFill>
                <a:latin typeface="Garamond"/>
                <a:ea typeface="Garamond"/>
                <a:cs typeface="Garamond"/>
                <a:sym typeface="Garamond"/>
              </a:rPr>
              <a:t>of decisions logged (was ~20%)</a:t>
            </a:r>
            <a:endParaRPr sz="2300">
              <a:solidFill>
                <a:schemeClr val="dk1"/>
              </a:solidFill>
              <a:latin typeface="Garamond"/>
              <a:ea typeface="Garamond"/>
              <a:cs typeface="Garamond"/>
              <a:sym typeface="Garamond"/>
            </a:endParaRPr>
          </a:p>
        </p:txBody>
      </p:sp>
      <p:graphicFrame>
        <p:nvGraphicFramePr>
          <p:cNvPr id="395" name="Google Shape;395;g3e868c9b429_1_126"/>
          <p:cNvGraphicFramePr/>
          <p:nvPr/>
        </p:nvGraphicFramePr>
        <p:xfrm>
          <a:off x="685800" y="5184648"/>
          <a:ext cx="3000000" cy="3000000"/>
        </p:xfrm>
        <a:graphic>
          <a:graphicData uri="http://schemas.openxmlformats.org/drawingml/2006/table">
            <a:tbl>
              <a:tblPr>
                <a:noFill/>
                <a:tableStyleId>{8FE5CE00-8E91-4903-B5BB-D88EA2FC722F}</a:tableStyleId>
              </a:tblPr>
              <a:tblGrid>
                <a:gridCol w="7406625"/>
                <a:gridCol w="3291825"/>
                <a:gridCol w="3291825"/>
                <a:gridCol w="2921525"/>
              </a:tblGrid>
              <a:tr h="685800">
                <a:tc>
                  <a:txBody>
                    <a:bodyPr/>
                    <a:lstStyle/>
                    <a:p>
                      <a:pPr indent="0" lvl="0" marL="0" marR="0" rtl="0" algn="l">
                        <a:spcBef>
                          <a:spcPts val="0"/>
                        </a:spcBef>
                        <a:spcAft>
                          <a:spcPts val="0"/>
                        </a:spcAft>
                        <a:buClr>
                          <a:srgbClr val="F5C784"/>
                        </a:buClr>
                        <a:buSzPts val="1700"/>
                        <a:buFont typeface="Garamond"/>
                        <a:buNone/>
                      </a:pPr>
                      <a:r>
                        <a:rPr b="1" lang="en-US" sz="2300" u="none" cap="none" strike="noStrike">
                          <a:solidFill>
                            <a:srgbClr val="F5C784"/>
                          </a:solidFill>
                          <a:latin typeface="Garamond"/>
                          <a:ea typeface="Garamond"/>
                          <a:cs typeface="Garamond"/>
                          <a:sym typeface="Garamond"/>
                        </a:rPr>
                        <a:t>Task, per shift</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c>
                  <a:txBody>
                    <a:bodyPr/>
                    <a:lstStyle/>
                    <a:p>
                      <a:pPr indent="0" lvl="0" marL="0" marR="0" rtl="0" algn="l">
                        <a:spcBef>
                          <a:spcPts val="0"/>
                        </a:spcBef>
                        <a:spcAft>
                          <a:spcPts val="0"/>
                        </a:spcAft>
                        <a:buClr>
                          <a:srgbClr val="F5C784"/>
                        </a:buClr>
                        <a:buSzPts val="1700"/>
                        <a:buFont typeface="Garamond"/>
                        <a:buNone/>
                      </a:pPr>
                      <a:r>
                        <a:rPr b="1" lang="en-US" sz="2300" u="none" cap="none" strike="noStrike">
                          <a:solidFill>
                            <a:srgbClr val="F5C784"/>
                          </a:solidFill>
                          <a:latin typeface="Garamond"/>
                          <a:ea typeface="Garamond"/>
                          <a:cs typeface="Garamond"/>
                          <a:sym typeface="Garamond"/>
                        </a:rPr>
                        <a:t>Before</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c>
                  <a:txBody>
                    <a:bodyPr/>
                    <a:lstStyle/>
                    <a:p>
                      <a:pPr indent="0" lvl="0" marL="0" marR="0" rtl="0" algn="l">
                        <a:spcBef>
                          <a:spcPts val="0"/>
                        </a:spcBef>
                        <a:spcAft>
                          <a:spcPts val="0"/>
                        </a:spcAft>
                        <a:buClr>
                          <a:srgbClr val="F5C784"/>
                        </a:buClr>
                        <a:buSzPts val="1700"/>
                        <a:buFont typeface="Garamond"/>
                        <a:buNone/>
                      </a:pPr>
                      <a:r>
                        <a:rPr b="1" lang="en-US" sz="2300" u="none" cap="none" strike="noStrike">
                          <a:solidFill>
                            <a:srgbClr val="F5C784"/>
                          </a:solidFill>
                          <a:latin typeface="Garamond"/>
                          <a:ea typeface="Garamond"/>
                          <a:cs typeface="Garamond"/>
                          <a:sym typeface="Garamond"/>
                        </a:rPr>
                        <a:t>After</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c>
                  <a:txBody>
                    <a:bodyPr/>
                    <a:lstStyle/>
                    <a:p>
                      <a:pPr indent="0" lvl="0" marL="0" marR="0" rtl="0" algn="l">
                        <a:spcBef>
                          <a:spcPts val="0"/>
                        </a:spcBef>
                        <a:spcAft>
                          <a:spcPts val="0"/>
                        </a:spcAft>
                        <a:buClr>
                          <a:srgbClr val="F5C784"/>
                        </a:buClr>
                        <a:buSzPts val="1700"/>
                        <a:buFont typeface="Garamond"/>
                        <a:buNone/>
                      </a:pPr>
                      <a:r>
                        <a:rPr b="1" lang="en-US" sz="2300" u="none" cap="none" strike="noStrike">
                          <a:solidFill>
                            <a:srgbClr val="F5C784"/>
                          </a:solidFill>
                          <a:latin typeface="Garamond"/>
                          <a:ea typeface="Garamond"/>
                          <a:cs typeface="Garamond"/>
                          <a:sym typeface="Garamond"/>
                        </a:rPr>
                        <a:t>Saved</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r>
              <a:tr h="685800">
                <a:tc>
                  <a:txBody>
                    <a:bodyPr/>
                    <a:lstStyle/>
                    <a:p>
                      <a:pPr indent="0" lvl="0" marL="0" marR="0" rtl="0" algn="l">
                        <a:spcBef>
                          <a:spcPts val="0"/>
                        </a:spcBef>
                        <a:spcAft>
                          <a:spcPts val="0"/>
                        </a:spcAft>
                        <a:buClr>
                          <a:srgbClr val="2C1A0E"/>
                        </a:buClr>
                        <a:buSzPts val="1700"/>
                        <a:buFont typeface="Calibri"/>
                        <a:buNone/>
                      </a:pPr>
                      <a:r>
                        <a:rPr lang="en-US" sz="2300" u="none" cap="none" strike="noStrike">
                          <a:solidFill>
                            <a:srgbClr val="2C1A0E"/>
                          </a:solidFill>
                          <a:latin typeface="Garamond"/>
                          <a:ea typeface="Garamond"/>
                          <a:cs typeface="Garamond"/>
                          <a:sym typeface="Garamond"/>
                        </a:rPr>
                        <a:t>Manager morning readiness</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l">
                        <a:spcBef>
                          <a:spcPts val="0"/>
                        </a:spcBef>
                        <a:spcAft>
                          <a:spcPts val="0"/>
                        </a:spcAft>
                        <a:buClr>
                          <a:srgbClr val="2C1A0E"/>
                        </a:buClr>
                        <a:buSzPts val="1700"/>
                        <a:buFont typeface="Calibri"/>
                        <a:buNone/>
                      </a:pPr>
                      <a:r>
                        <a:rPr lang="en-US" sz="2300" u="none" cap="none" strike="noStrike">
                          <a:solidFill>
                            <a:srgbClr val="2C1A0E"/>
                          </a:solidFill>
                          <a:latin typeface="Garamond"/>
                          <a:ea typeface="Garamond"/>
                          <a:cs typeface="Garamond"/>
                          <a:sym typeface="Garamond"/>
                        </a:rPr>
                        <a:t>25–40 min</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l">
                        <a:spcBef>
                          <a:spcPts val="0"/>
                        </a:spcBef>
                        <a:spcAft>
                          <a:spcPts val="0"/>
                        </a:spcAft>
                        <a:buClr>
                          <a:srgbClr val="2C1A0E"/>
                        </a:buClr>
                        <a:buSzPts val="1700"/>
                        <a:buFont typeface="Calibri"/>
                        <a:buNone/>
                      </a:pPr>
                      <a:r>
                        <a:rPr b="1" lang="en-US" sz="2300" u="none" cap="none" strike="noStrike">
                          <a:solidFill>
                            <a:srgbClr val="2C1A0E"/>
                          </a:solidFill>
                          <a:latin typeface="Garamond"/>
                          <a:ea typeface="Garamond"/>
                          <a:cs typeface="Garamond"/>
                          <a:sym typeface="Garamond"/>
                        </a:rPr>
                        <a:t>8–15 min</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l">
                        <a:spcBef>
                          <a:spcPts val="0"/>
                        </a:spcBef>
                        <a:spcAft>
                          <a:spcPts val="0"/>
                        </a:spcAft>
                        <a:buClr>
                          <a:srgbClr val="2C1A0E"/>
                        </a:buClr>
                        <a:buSzPts val="1700"/>
                        <a:buFont typeface="Calibri"/>
                        <a:buNone/>
                      </a:pPr>
                      <a:r>
                        <a:rPr b="1" lang="en-US" sz="2300" u="none" cap="none" strike="noStrike">
                          <a:solidFill>
                            <a:srgbClr val="2C1A0E"/>
                          </a:solidFill>
                          <a:latin typeface="Garamond"/>
                          <a:ea typeface="Garamond"/>
                          <a:cs typeface="Garamond"/>
                          <a:sym typeface="Garamond"/>
                        </a:rPr>
                        <a:t>~60–65%</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r>
              <a:tr h="685800">
                <a:tc>
                  <a:txBody>
                    <a:bodyPr/>
                    <a:lstStyle/>
                    <a:p>
                      <a:pPr indent="0" lvl="0" marL="0" marR="0" rtl="0" algn="l">
                        <a:spcBef>
                          <a:spcPts val="0"/>
                        </a:spcBef>
                        <a:spcAft>
                          <a:spcPts val="0"/>
                        </a:spcAft>
                        <a:buClr>
                          <a:srgbClr val="2C1A0E"/>
                        </a:buClr>
                        <a:buSzPts val="1700"/>
                        <a:buFont typeface="Calibri"/>
                        <a:buNone/>
                      </a:pPr>
                      <a:r>
                        <a:rPr lang="en-US" sz="2300" u="none" cap="none" strike="noStrike">
                          <a:solidFill>
                            <a:srgbClr val="2C1A0E"/>
                          </a:solidFill>
                          <a:latin typeface="Garamond"/>
                          <a:ea typeface="Garamond"/>
                          <a:cs typeface="Garamond"/>
                          <a:sym typeface="Garamond"/>
                        </a:rPr>
                        <a:t>Drink recommendation (per customer)</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c>
                  <a:txBody>
                    <a:bodyPr/>
                    <a:lstStyle/>
                    <a:p>
                      <a:pPr indent="0" lvl="0" marL="0" marR="0" rtl="0" algn="l">
                        <a:spcBef>
                          <a:spcPts val="0"/>
                        </a:spcBef>
                        <a:spcAft>
                          <a:spcPts val="0"/>
                        </a:spcAft>
                        <a:buClr>
                          <a:srgbClr val="2C1A0E"/>
                        </a:buClr>
                        <a:buSzPts val="1700"/>
                        <a:buFont typeface="Calibri"/>
                        <a:buNone/>
                      </a:pPr>
                      <a:r>
                        <a:rPr lang="en-US" sz="2300" u="none" cap="none" strike="noStrike">
                          <a:solidFill>
                            <a:srgbClr val="2C1A0E"/>
                          </a:solidFill>
                          <a:latin typeface="Garamond"/>
                          <a:ea typeface="Garamond"/>
                          <a:cs typeface="Garamond"/>
                          <a:sym typeface="Garamond"/>
                        </a:rPr>
                        <a:t>1–3 min</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c>
                  <a:txBody>
                    <a:bodyPr/>
                    <a:lstStyle/>
                    <a:p>
                      <a:pPr indent="0" lvl="0" marL="0" marR="0" rtl="0" algn="l">
                        <a:spcBef>
                          <a:spcPts val="0"/>
                        </a:spcBef>
                        <a:spcAft>
                          <a:spcPts val="0"/>
                        </a:spcAft>
                        <a:buClr>
                          <a:srgbClr val="2C1A0E"/>
                        </a:buClr>
                        <a:buSzPts val="1700"/>
                        <a:buFont typeface="Calibri"/>
                        <a:buNone/>
                      </a:pPr>
                      <a:r>
                        <a:rPr b="1" lang="en-US" sz="2300" u="none" cap="none" strike="noStrike">
                          <a:solidFill>
                            <a:srgbClr val="2C1A0E"/>
                          </a:solidFill>
                          <a:latin typeface="Garamond"/>
                          <a:ea typeface="Garamond"/>
                          <a:cs typeface="Garamond"/>
                          <a:sym typeface="Garamond"/>
                        </a:rPr>
                        <a:t>0.5–1.5 min</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c>
                  <a:txBody>
                    <a:bodyPr/>
                    <a:lstStyle/>
                    <a:p>
                      <a:pPr indent="0" lvl="0" marL="0" marR="0" rtl="0" algn="l">
                        <a:spcBef>
                          <a:spcPts val="0"/>
                        </a:spcBef>
                        <a:spcAft>
                          <a:spcPts val="0"/>
                        </a:spcAft>
                        <a:buClr>
                          <a:srgbClr val="2C1A0E"/>
                        </a:buClr>
                        <a:buSzPts val="1700"/>
                        <a:buFont typeface="Calibri"/>
                        <a:buNone/>
                      </a:pPr>
                      <a:r>
                        <a:rPr b="1" lang="en-US" sz="2300" u="none" cap="none" strike="noStrike">
                          <a:solidFill>
                            <a:srgbClr val="2C1A0E"/>
                          </a:solidFill>
                          <a:latin typeface="Garamond"/>
                          <a:ea typeface="Garamond"/>
                          <a:cs typeface="Garamond"/>
                          <a:sym typeface="Garamond"/>
                        </a:rPr>
                        <a:t>~40–50%</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EFE2CE"/>
                    </a:solidFill>
                  </a:tcPr>
                </a:tc>
              </a:tr>
              <a:tr h="685800">
                <a:tc>
                  <a:txBody>
                    <a:bodyPr/>
                    <a:lstStyle/>
                    <a:p>
                      <a:pPr indent="0" lvl="0" marL="0" marR="0" rtl="0" algn="l">
                        <a:spcBef>
                          <a:spcPts val="0"/>
                        </a:spcBef>
                        <a:spcAft>
                          <a:spcPts val="0"/>
                        </a:spcAft>
                        <a:buClr>
                          <a:srgbClr val="2C1A0E"/>
                        </a:buClr>
                        <a:buSzPts val="1700"/>
                        <a:buFont typeface="Calibri"/>
                        <a:buNone/>
                      </a:pPr>
                      <a:r>
                        <a:rPr lang="en-US" sz="2300" u="none" cap="none" strike="noStrike">
                          <a:solidFill>
                            <a:srgbClr val="2C1A0E"/>
                          </a:solidFill>
                          <a:latin typeface="Garamond"/>
                          <a:ea typeface="Garamond"/>
                          <a:cs typeface="Garamond"/>
                          <a:sym typeface="Garamond"/>
                        </a:rPr>
                        <a:t>Taking and checking an order</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l">
                        <a:spcBef>
                          <a:spcPts val="0"/>
                        </a:spcBef>
                        <a:spcAft>
                          <a:spcPts val="0"/>
                        </a:spcAft>
                        <a:buClr>
                          <a:srgbClr val="2C1A0E"/>
                        </a:buClr>
                        <a:buSzPts val="1700"/>
                        <a:buFont typeface="Calibri"/>
                        <a:buNone/>
                      </a:pPr>
                      <a:r>
                        <a:rPr lang="en-US" sz="2300" u="none" cap="none" strike="noStrike">
                          <a:solidFill>
                            <a:srgbClr val="2C1A0E"/>
                          </a:solidFill>
                          <a:latin typeface="Garamond"/>
                          <a:ea typeface="Garamond"/>
                          <a:cs typeface="Garamond"/>
                          <a:sym typeface="Garamond"/>
                        </a:rPr>
                        <a:t>2–4 min</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l">
                        <a:spcBef>
                          <a:spcPts val="0"/>
                        </a:spcBef>
                        <a:spcAft>
                          <a:spcPts val="0"/>
                        </a:spcAft>
                        <a:buClr>
                          <a:srgbClr val="2C1A0E"/>
                        </a:buClr>
                        <a:buSzPts val="1700"/>
                        <a:buFont typeface="Calibri"/>
                        <a:buNone/>
                      </a:pPr>
                      <a:r>
                        <a:rPr b="1" lang="en-US" sz="2300" u="none" cap="none" strike="noStrike">
                          <a:solidFill>
                            <a:srgbClr val="2C1A0E"/>
                          </a:solidFill>
                          <a:latin typeface="Garamond"/>
                          <a:ea typeface="Garamond"/>
                          <a:cs typeface="Garamond"/>
                          <a:sym typeface="Garamond"/>
                        </a:rPr>
                        <a:t>1–2 min</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c>
                  <a:txBody>
                    <a:bodyPr/>
                    <a:lstStyle/>
                    <a:p>
                      <a:pPr indent="0" lvl="0" marL="0" marR="0" rtl="0" algn="l">
                        <a:spcBef>
                          <a:spcPts val="0"/>
                        </a:spcBef>
                        <a:spcAft>
                          <a:spcPts val="0"/>
                        </a:spcAft>
                        <a:buClr>
                          <a:srgbClr val="2C1A0E"/>
                        </a:buClr>
                        <a:buSzPts val="1700"/>
                        <a:buFont typeface="Calibri"/>
                        <a:buNone/>
                      </a:pPr>
                      <a:r>
                        <a:rPr b="1" lang="en-US" sz="2300" u="none" cap="none" strike="noStrike">
                          <a:solidFill>
                            <a:srgbClr val="2C1A0E"/>
                          </a:solidFill>
                          <a:latin typeface="Garamond"/>
                          <a:ea typeface="Garamond"/>
                          <a:cs typeface="Garamond"/>
                          <a:sym typeface="Garamond"/>
                        </a:rPr>
                        <a:t>~40–50%</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F7EBDF"/>
                    </a:solidFill>
                  </a:tcPr>
                </a:tc>
              </a:tr>
              <a:tr h="685800">
                <a:tc>
                  <a:txBody>
                    <a:bodyPr/>
                    <a:lstStyle/>
                    <a:p>
                      <a:pPr indent="0" lvl="0" marL="0" marR="0" rtl="0" algn="l">
                        <a:spcBef>
                          <a:spcPts val="0"/>
                        </a:spcBef>
                        <a:spcAft>
                          <a:spcPts val="0"/>
                        </a:spcAft>
                        <a:buClr>
                          <a:srgbClr val="F5C784"/>
                        </a:buClr>
                        <a:buSzPts val="1700"/>
                        <a:buFont typeface="Garamond"/>
                        <a:buNone/>
                      </a:pPr>
                      <a:r>
                        <a:rPr b="1" lang="en-US" sz="2300" u="none" cap="none" strike="noStrike">
                          <a:solidFill>
                            <a:srgbClr val="F5C784"/>
                          </a:solidFill>
                          <a:latin typeface="Garamond"/>
                          <a:ea typeface="Garamond"/>
                          <a:cs typeface="Garamond"/>
                          <a:sym typeface="Garamond"/>
                        </a:rPr>
                        <a:t>Whole shift cycle</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c>
                  <a:txBody>
                    <a:bodyPr/>
                    <a:lstStyle/>
                    <a:p>
                      <a:pPr indent="0" lvl="0" marL="0" marR="0" rtl="0" algn="l">
                        <a:spcBef>
                          <a:spcPts val="0"/>
                        </a:spcBef>
                        <a:spcAft>
                          <a:spcPts val="0"/>
                        </a:spcAft>
                        <a:buClr>
                          <a:srgbClr val="F5C784"/>
                        </a:buClr>
                        <a:buSzPts val="1700"/>
                        <a:buFont typeface="Garamond"/>
                        <a:buNone/>
                      </a:pPr>
                      <a:r>
                        <a:rPr b="1" lang="en-US" sz="2300" u="none" cap="none" strike="noStrike">
                          <a:solidFill>
                            <a:srgbClr val="F5C784"/>
                          </a:solidFill>
                          <a:latin typeface="Garamond"/>
                          <a:ea typeface="Garamond"/>
                          <a:cs typeface="Garamond"/>
                          <a:sym typeface="Garamond"/>
                        </a:rPr>
                        <a:t>33–72 min</a:t>
                      </a:r>
                      <a:endParaRPr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c>
                  <a:txBody>
                    <a:bodyPr/>
                    <a:lstStyle/>
                    <a:p>
                      <a:pPr indent="0" lvl="0" marL="0" marR="0" rtl="0" algn="l">
                        <a:spcBef>
                          <a:spcPts val="0"/>
                        </a:spcBef>
                        <a:spcAft>
                          <a:spcPts val="0"/>
                        </a:spcAft>
                        <a:buClr>
                          <a:srgbClr val="F5C784"/>
                        </a:buClr>
                        <a:buSzPts val="1700"/>
                        <a:buFont typeface="Garamond"/>
                        <a:buNone/>
                      </a:pPr>
                      <a:r>
                        <a:rPr b="1" lang="en-US" sz="2300" u="none" cap="none" strike="noStrike">
                          <a:solidFill>
                            <a:srgbClr val="F5C784"/>
                          </a:solidFill>
                          <a:latin typeface="Garamond"/>
                          <a:ea typeface="Garamond"/>
                          <a:cs typeface="Garamond"/>
                          <a:sym typeface="Garamond"/>
                        </a:rPr>
                        <a:t>15–34 min</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c>
                  <a:txBody>
                    <a:bodyPr/>
                    <a:lstStyle/>
                    <a:p>
                      <a:pPr indent="0" lvl="0" marL="0" marR="0" rtl="0" algn="l">
                        <a:spcBef>
                          <a:spcPts val="0"/>
                        </a:spcBef>
                        <a:spcAft>
                          <a:spcPts val="0"/>
                        </a:spcAft>
                        <a:buClr>
                          <a:srgbClr val="F5C784"/>
                        </a:buClr>
                        <a:buSzPts val="1700"/>
                        <a:buFont typeface="Garamond"/>
                        <a:buNone/>
                      </a:pPr>
                      <a:r>
                        <a:rPr b="1" lang="en-US" sz="2300" u="none" cap="none" strike="noStrike">
                          <a:solidFill>
                            <a:srgbClr val="F5C784"/>
                          </a:solidFill>
                          <a:latin typeface="Garamond"/>
                          <a:ea typeface="Garamond"/>
                          <a:cs typeface="Garamond"/>
                          <a:sym typeface="Garamond"/>
                        </a:rPr>
                        <a:t>~30–55%</a:t>
                      </a:r>
                      <a:endParaRPr b="1" sz="2300" u="none" cap="none" strike="noStrike">
                        <a:latin typeface="Garamond"/>
                        <a:ea typeface="Garamond"/>
                        <a:cs typeface="Garamond"/>
                        <a:sym typeface="Garamond"/>
                      </a:endParaRPr>
                    </a:p>
                  </a:txBody>
                  <a:tcPr marT="68600" marB="68600" marR="137175" marL="137175" anchor="ctr">
                    <a:lnL cap="flat" cmpd="sng" w="14300">
                      <a:solidFill>
                        <a:srgbClr val="E3D2B7"/>
                      </a:solidFill>
                      <a:prstDash val="solid"/>
                      <a:round/>
                      <a:headEnd len="sm" w="sm" type="none"/>
                      <a:tailEnd len="sm" w="sm" type="none"/>
                    </a:lnL>
                    <a:lnR cap="flat" cmpd="sng" w="14300">
                      <a:solidFill>
                        <a:srgbClr val="E3D2B7"/>
                      </a:solidFill>
                      <a:prstDash val="solid"/>
                      <a:round/>
                      <a:headEnd len="sm" w="sm" type="none"/>
                      <a:tailEnd len="sm" w="sm" type="none"/>
                    </a:lnR>
                    <a:lnT cap="flat" cmpd="sng" w="14300">
                      <a:solidFill>
                        <a:srgbClr val="E3D2B7"/>
                      </a:solidFill>
                      <a:prstDash val="solid"/>
                      <a:round/>
                      <a:headEnd len="sm" w="sm" type="none"/>
                      <a:tailEnd len="sm" w="sm" type="none"/>
                    </a:lnT>
                    <a:lnB cap="flat" cmpd="sng" w="14300">
                      <a:solidFill>
                        <a:srgbClr val="E3D2B7"/>
                      </a:solidFill>
                      <a:prstDash val="solid"/>
                      <a:round/>
                      <a:headEnd len="sm" w="sm" type="none"/>
                      <a:tailEnd len="sm" w="sm" type="none"/>
                    </a:lnB>
                    <a:solidFill>
                      <a:srgbClr val="2C1A0E"/>
                    </a:solidFill>
                  </a:tcPr>
                </a:tc>
              </a:tr>
            </a:tbl>
          </a:graphicData>
        </a:graphic>
      </p:graphicFrame>
      <p:sp>
        <p:nvSpPr>
          <p:cNvPr id="396" name="Google Shape;396;g3e868c9b429_1_126"/>
          <p:cNvSpPr/>
          <p:nvPr/>
        </p:nvSpPr>
        <p:spPr>
          <a:xfrm>
            <a:off x="685800" y="8983980"/>
            <a:ext cx="16911900" cy="48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B49A"/>
              </a:buClr>
              <a:buSzPts val="1600"/>
              <a:buFont typeface="Calibri"/>
              <a:buNone/>
            </a:pPr>
            <a:r>
              <a:rPr i="1" lang="en-US" sz="2300">
                <a:solidFill>
                  <a:srgbClr val="C6B49A"/>
                </a:solidFill>
                <a:latin typeface="Garamond"/>
                <a:ea typeface="Garamond"/>
                <a:cs typeface="Garamond"/>
                <a:sym typeface="Garamond"/>
              </a:rPr>
              <a:t>These figures come from simulated data and published benchmarks — not real operations, and not meant for business decisions.</a:t>
            </a:r>
            <a:endParaRPr sz="2300">
              <a:solidFill>
                <a:schemeClr val="dk1"/>
              </a:solidFill>
              <a:latin typeface="Garamond"/>
              <a:ea typeface="Garamond"/>
              <a:cs typeface="Garamond"/>
              <a:sym typeface="Garamond"/>
            </a:endParaRPr>
          </a:p>
        </p:txBody>
      </p:sp>
      <p:sp>
        <p:nvSpPr>
          <p:cNvPr id="397" name="Google Shape;397;g3e868c9b429_1_126"/>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398" name="Google Shape;398;g3e868c9b429_1_126"/>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2414"/>
        </a:solidFill>
      </p:bgPr>
    </p:bg>
    <p:spTree>
      <p:nvGrpSpPr>
        <p:cNvPr id="403" name="Shape 403"/>
        <p:cNvGrpSpPr/>
        <p:nvPr/>
      </p:nvGrpSpPr>
      <p:grpSpPr>
        <a:xfrm>
          <a:off x="0" y="0"/>
          <a:ext cx="0" cy="0"/>
          <a:chOff x="0" y="0"/>
          <a:chExt cx="0" cy="0"/>
        </a:xfrm>
      </p:grpSpPr>
      <p:sp>
        <p:nvSpPr>
          <p:cNvPr id="404" name="Google Shape;404;g3e868c9b429_1_154"/>
          <p:cNvSpPr/>
          <p:nvPr/>
        </p:nvSpPr>
        <p:spPr>
          <a:xfrm>
            <a:off x="685800" y="548640"/>
            <a:ext cx="905400" cy="9054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405" name="Google Shape;405;g3e868c9b429_1_154"/>
          <p:cNvPicPr preferRelativeResize="0"/>
          <p:nvPr/>
        </p:nvPicPr>
        <p:blipFill rotWithShape="1">
          <a:blip r:embed="rId3">
            <a:alphaModFix/>
          </a:blip>
          <a:srcRect b="0" l="0" r="0" t="0"/>
          <a:stretch/>
        </p:blipFill>
        <p:spPr>
          <a:xfrm>
            <a:off x="903062" y="765901"/>
            <a:ext cx="470733" cy="470733"/>
          </a:xfrm>
          <a:prstGeom prst="rect">
            <a:avLst/>
          </a:prstGeom>
          <a:noFill/>
          <a:ln>
            <a:noFill/>
          </a:ln>
        </p:spPr>
      </p:pic>
      <p:sp>
        <p:nvSpPr>
          <p:cNvPr id="406" name="Google Shape;406;g3e868c9b429_1_154"/>
          <p:cNvSpPr/>
          <p:nvPr/>
        </p:nvSpPr>
        <p:spPr>
          <a:xfrm>
            <a:off x="1810512" y="466344"/>
            <a:ext cx="15773400" cy="10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C784"/>
              </a:buClr>
              <a:buSzPts val="4700"/>
              <a:buFont typeface="Garamond"/>
              <a:buNone/>
            </a:pPr>
            <a:r>
              <a:rPr b="1" lang="en-US" sz="4700">
                <a:solidFill>
                  <a:srgbClr val="F5C784"/>
                </a:solidFill>
                <a:latin typeface="Garamond"/>
                <a:ea typeface="Garamond"/>
                <a:cs typeface="Garamond"/>
                <a:sym typeface="Garamond"/>
              </a:rPr>
              <a:t>Built Responsibly</a:t>
            </a:r>
            <a:endParaRPr sz="4700">
              <a:solidFill>
                <a:schemeClr val="dk1"/>
              </a:solidFill>
              <a:latin typeface="Calibri"/>
              <a:ea typeface="Calibri"/>
              <a:cs typeface="Calibri"/>
              <a:sym typeface="Calibri"/>
            </a:endParaRPr>
          </a:p>
        </p:txBody>
      </p:sp>
      <p:sp>
        <p:nvSpPr>
          <p:cNvPr id="407" name="Google Shape;407;g3e868c9b429_1_154"/>
          <p:cNvSpPr/>
          <p:nvPr/>
        </p:nvSpPr>
        <p:spPr>
          <a:xfrm>
            <a:off x="1810512" y="1536192"/>
            <a:ext cx="157734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B49A"/>
              </a:buClr>
              <a:buSzPts val="2000"/>
              <a:buFont typeface="Garamond"/>
              <a:buNone/>
            </a:pPr>
            <a:r>
              <a:rPr i="1" lang="en-US" sz="2000">
                <a:solidFill>
                  <a:srgbClr val="C6B49A"/>
                </a:solidFill>
                <a:latin typeface="Garamond"/>
                <a:ea typeface="Garamond"/>
                <a:cs typeface="Garamond"/>
                <a:sym typeface="Garamond"/>
              </a:rPr>
              <a:t>What we stand by — and what we’re honest about</a:t>
            </a:r>
            <a:endParaRPr sz="2000">
              <a:solidFill>
                <a:schemeClr val="dk1"/>
              </a:solidFill>
              <a:latin typeface="Calibri"/>
              <a:ea typeface="Calibri"/>
              <a:cs typeface="Calibri"/>
              <a:sym typeface="Calibri"/>
            </a:endParaRPr>
          </a:p>
        </p:txBody>
      </p:sp>
      <p:sp>
        <p:nvSpPr>
          <p:cNvPr id="408" name="Google Shape;408;g3e868c9b429_1_154"/>
          <p:cNvSpPr/>
          <p:nvPr/>
        </p:nvSpPr>
        <p:spPr>
          <a:xfrm>
            <a:off x="685800" y="2194560"/>
            <a:ext cx="8298000" cy="69264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409" name="Google Shape;409;g3e868c9b429_1_154"/>
          <p:cNvSpPr/>
          <p:nvPr/>
        </p:nvSpPr>
        <p:spPr>
          <a:xfrm>
            <a:off x="685800" y="2194560"/>
            <a:ext cx="8298000" cy="1509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410" name="Google Shape;410;g3e868c9b429_1_154"/>
          <p:cNvSpPr/>
          <p:nvPr/>
        </p:nvSpPr>
        <p:spPr>
          <a:xfrm>
            <a:off x="987552" y="2468880"/>
            <a:ext cx="603600" cy="603600"/>
          </a:xfrm>
          <a:prstGeom prst="ellipse">
            <a:avLst/>
          </a:prstGeom>
          <a:solidFill>
            <a:srgbClr val="F5C784"/>
          </a:solidFill>
          <a:ln cap="flat" cmpd="sng" w="19050">
            <a:solidFill>
              <a:srgbClr val="F5C784"/>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411" name="Google Shape;411;g3e868c9b429_1_154"/>
          <p:cNvPicPr preferRelativeResize="0"/>
          <p:nvPr/>
        </p:nvPicPr>
        <p:blipFill rotWithShape="1">
          <a:blip r:embed="rId4">
            <a:alphaModFix/>
          </a:blip>
          <a:srcRect b="0" l="0" r="0" t="0"/>
          <a:stretch/>
        </p:blipFill>
        <p:spPr>
          <a:xfrm>
            <a:off x="1132393" y="2613722"/>
            <a:ext cx="313822" cy="313822"/>
          </a:xfrm>
          <a:prstGeom prst="rect">
            <a:avLst/>
          </a:prstGeom>
          <a:noFill/>
          <a:ln>
            <a:noFill/>
          </a:ln>
        </p:spPr>
      </p:pic>
      <p:sp>
        <p:nvSpPr>
          <p:cNvPr id="412" name="Google Shape;412;g3e868c9b429_1_154"/>
          <p:cNvSpPr/>
          <p:nvPr/>
        </p:nvSpPr>
        <p:spPr>
          <a:xfrm>
            <a:off x="1769364" y="2400300"/>
            <a:ext cx="61722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300"/>
              <a:buFont typeface="Garamond"/>
              <a:buNone/>
            </a:pPr>
            <a:r>
              <a:rPr b="1" lang="en-US" sz="3800">
                <a:solidFill>
                  <a:srgbClr val="2C1A0E"/>
                </a:solidFill>
                <a:latin typeface="Garamond"/>
                <a:ea typeface="Garamond"/>
                <a:cs typeface="Garamond"/>
                <a:sym typeface="Garamond"/>
              </a:rPr>
              <a:t>What we stand by</a:t>
            </a:r>
            <a:endParaRPr sz="3800">
              <a:solidFill>
                <a:schemeClr val="dk1"/>
              </a:solidFill>
              <a:latin typeface="Calibri"/>
              <a:ea typeface="Calibri"/>
              <a:cs typeface="Calibri"/>
              <a:sym typeface="Calibri"/>
            </a:endParaRPr>
          </a:p>
        </p:txBody>
      </p:sp>
      <p:sp>
        <p:nvSpPr>
          <p:cNvPr id="413" name="Google Shape;413;g3e868c9b429_1_154"/>
          <p:cNvSpPr/>
          <p:nvPr/>
        </p:nvSpPr>
        <p:spPr>
          <a:xfrm>
            <a:off x="1069848" y="3429000"/>
            <a:ext cx="7612200" cy="5486400"/>
          </a:xfrm>
          <a:prstGeom prst="rect">
            <a:avLst/>
          </a:prstGeom>
          <a:noFill/>
          <a:ln>
            <a:noFill/>
          </a:ln>
        </p:spPr>
        <p:txBody>
          <a:bodyPr anchorCtr="0" anchor="t" bIns="0" lIns="0" spcFirstLastPara="1" rIns="0" wrap="square" tIns="0">
            <a:noAutofit/>
          </a:bodyPr>
          <a:lstStyle/>
          <a:p>
            <a:pPr indent="-311150" lvl="0" marL="254000" marR="0" rtl="0" algn="l">
              <a:spcBef>
                <a:spcPts val="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All data is simulated, for class use</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Drinks are made one at a time, even at peak</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Allergy wording always escalates — it can’t be turned off</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Human review is the default, not the exception</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The evidence is always on show</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Nothing leaves the laptop</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Predictable everywhere except the final wording</a:t>
            </a:r>
            <a:endParaRPr sz="2700">
              <a:solidFill>
                <a:schemeClr val="dk1"/>
              </a:solidFill>
              <a:latin typeface="Garamond"/>
              <a:ea typeface="Garamond"/>
              <a:cs typeface="Garamond"/>
              <a:sym typeface="Garamond"/>
            </a:endParaRPr>
          </a:p>
        </p:txBody>
      </p:sp>
      <p:sp>
        <p:nvSpPr>
          <p:cNvPr id="414" name="Google Shape;414;g3e868c9b429_1_154"/>
          <p:cNvSpPr/>
          <p:nvPr/>
        </p:nvSpPr>
        <p:spPr>
          <a:xfrm>
            <a:off x="9299448" y="2194560"/>
            <a:ext cx="8298000" cy="6926400"/>
          </a:xfrm>
          <a:prstGeom prst="rect">
            <a:avLst/>
          </a:prstGeom>
          <a:solidFill>
            <a:srgbClr val="F7EBDF"/>
          </a:solidFill>
          <a:ln cap="flat" cmpd="sng" w="19050">
            <a:solidFill>
              <a:srgbClr val="E3D2B7"/>
            </a:solidFill>
            <a:prstDash val="solid"/>
            <a:round/>
            <a:headEnd len="sm" w="sm" type="none"/>
            <a:tailEnd len="sm" w="sm" type="none"/>
          </a:ln>
          <a:effectLst>
            <a:outerShdw blurRad="171450" rotWithShape="0" algn="bl" dir="5400000" dist="57150">
              <a:srgbClr val="000000">
                <a:alpha val="20000"/>
              </a:srgbClr>
            </a:outerShdw>
          </a:effectLst>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415" name="Google Shape;415;g3e868c9b429_1_154"/>
          <p:cNvSpPr/>
          <p:nvPr/>
        </p:nvSpPr>
        <p:spPr>
          <a:xfrm>
            <a:off x="9299448" y="2194560"/>
            <a:ext cx="8298000" cy="150900"/>
          </a:xfrm>
          <a:prstGeom prst="rect">
            <a:avLst/>
          </a:prstGeom>
          <a:solidFill>
            <a:srgbClr val="B85042"/>
          </a:solidFill>
          <a:ln cap="flat" cmpd="sng" w="19050">
            <a:solidFill>
              <a:srgbClr val="B8504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416" name="Google Shape;416;g3e868c9b429_1_154"/>
          <p:cNvSpPr/>
          <p:nvPr/>
        </p:nvSpPr>
        <p:spPr>
          <a:xfrm>
            <a:off x="9601200" y="2468880"/>
            <a:ext cx="603600" cy="603600"/>
          </a:xfrm>
          <a:prstGeom prst="ellipse">
            <a:avLst/>
          </a:prstGeom>
          <a:solidFill>
            <a:srgbClr val="B85042"/>
          </a:solidFill>
          <a:ln cap="flat" cmpd="sng" w="19050">
            <a:solidFill>
              <a:srgbClr val="B8504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417" name="Google Shape;417;g3e868c9b429_1_154"/>
          <p:cNvPicPr preferRelativeResize="0"/>
          <p:nvPr/>
        </p:nvPicPr>
        <p:blipFill rotWithShape="1">
          <a:blip r:embed="rId5">
            <a:alphaModFix/>
          </a:blip>
          <a:srcRect b="0" l="0" r="0" t="0"/>
          <a:stretch/>
        </p:blipFill>
        <p:spPr>
          <a:xfrm>
            <a:off x="9746042" y="2613722"/>
            <a:ext cx="313822" cy="313822"/>
          </a:xfrm>
          <a:prstGeom prst="rect">
            <a:avLst/>
          </a:prstGeom>
          <a:noFill/>
          <a:ln>
            <a:noFill/>
          </a:ln>
        </p:spPr>
      </p:pic>
      <p:sp>
        <p:nvSpPr>
          <p:cNvPr id="418" name="Google Shape;418;g3e868c9b429_1_154"/>
          <p:cNvSpPr/>
          <p:nvPr/>
        </p:nvSpPr>
        <p:spPr>
          <a:xfrm>
            <a:off x="10383012" y="2400300"/>
            <a:ext cx="61722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1A0E"/>
              </a:buClr>
              <a:buSzPts val="2300"/>
              <a:buFont typeface="Garamond"/>
              <a:buNone/>
            </a:pPr>
            <a:r>
              <a:rPr b="1" lang="en-US" sz="3800">
                <a:solidFill>
                  <a:srgbClr val="2C1A0E"/>
                </a:solidFill>
                <a:latin typeface="Garamond"/>
                <a:ea typeface="Garamond"/>
                <a:cs typeface="Garamond"/>
                <a:sym typeface="Garamond"/>
              </a:rPr>
              <a:t>What we’re honest about</a:t>
            </a:r>
            <a:endParaRPr sz="3800">
              <a:solidFill>
                <a:schemeClr val="dk1"/>
              </a:solidFill>
              <a:latin typeface="Calibri"/>
              <a:ea typeface="Calibri"/>
              <a:cs typeface="Calibri"/>
              <a:sym typeface="Calibri"/>
            </a:endParaRPr>
          </a:p>
        </p:txBody>
      </p:sp>
      <p:sp>
        <p:nvSpPr>
          <p:cNvPr id="419" name="Google Shape;419;g3e868c9b429_1_154"/>
          <p:cNvSpPr/>
          <p:nvPr/>
        </p:nvSpPr>
        <p:spPr>
          <a:xfrm>
            <a:off x="9683496" y="3429000"/>
            <a:ext cx="7612200" cy="5486400"/>
          </a:xfrm>
          <a:prstGeom prst="rect">
            <a:avLst/>
          </a:prstGeom>
          <a:noFill/>
          <a:ln>
            <a:noFill/>
          </a:ln>
        </p:spPr>
        <p:txBody>
          <a:bodyPr anchorCtr="0" anchor="t" bIns="0" lIns="0" spcFirstLastPara="1" rIns="0" wrap="square" tIns="0">
            <a:noAutofit/>
          </a:bodyPr>
          <a:lstStyle/>
          <a:p>
            <a:pPr indent="-311150" lvl="0" marL="254000" marR="0" rtl="0" algn="l">
              <a:spcBef>
                <a:spcPts val="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Simulated data only — not for real decisions</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The activity log resets when the app restarts</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Time savings are estimated, not measured</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Dairy-free is inferred from the vegan label (a noted assumption)</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No automatic check yet that pulled guidelines are truly on-point</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The AI wording step is modelled, not run live in testing</a:t>
            </a:r>
            <a:endParaRPr sz="2700">
              <a:solidFill>
                <a:schemeClr val="dk1"/>
              </a:solidFill>
              <a:latin typeface="Garamond"/>
              <a:ea typeface="Garamond"/>
              <a:cs typeface="Garamond"/>
              <a:sym typeface="Garamond"/>
            </a:endParaRPr>
          </a:p>
          <a:p>
            <a:pPr indent="-311150" lvl="0" marL="254000" marR="0" rtl="0" algn="l">
              <a:spcBef>
                <a:spcPts val="1400"/>
              </a:spcBef>
              <a:spcAft>
                <a:spcPts val="0"/>
              </a:spcAft>
              <a:buClr>
                <a:srgbClr val="5E4A35"/>
              </a:buClr>
              <a:buSzPts val="2700"/>
              <a:buFont typeface="Garamond"/>
              <a:buChar char="•"/>
            </a:pPr>
            <a:r>
              <a:rPr lang="en-US" sz="2700">
                <a:solidFill>
                  <a:srgbClr val="5E4A35"/>
                </a:solidFill>
                <a:latin typeface="Garamond"/>
                <a:ea typeface="Garamond"/>
                <a:cs typeface="Garamond"/>
                <a:sym typeface="Garamond"/>
              </a:rPr>
              <a:t>The review queue is one session, one user at a time</a:t>
            </a:r>
            <a:endParaRPr sz="2700">
              <a:solidFill>
                <a:schemeClr val="dk1"/>
              </a:solidFill>
              <a:latin typeface="Garamond"/>
              <a:ea typeface="Garamond"/>
              <a:cs typeface="Garamond"/>
              <a:sym typeface="Garamond"/>
            </a:endParaRPr>
          </a:p>
        </p:txBody>
      </p:sp>
      <p:sp>
        <p:nvSpPr>
          <p:cNvPr id="420" name="Google Shape;420;g3e868c9b429_1_154"/>
          <p:cNvSpPr/>
          <p:nvPr/>
        </p:nvSpPr>
        <p:spPr>
          <a:xfrm>
            <a:off x="685800" y="9683496"/>
            <a:ext cx="11658600" cy="41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BrewFlow AI  ·  Group 8</a:t>
            </a:r>
            <a:endParaRPr sz="1600">
              <a:solidFill>
                <a:schemeClr val="dk1"/>
              </a:solidFill>
              <a:latin typeface="Calibri"/>
              <a:ea typeface="Calibri"/>
              <a:cs typeface="Calibri"/>
              <a:sym typeface="Calibri"/>
            </a:endParaRPr>
          </a:p>
        </p:txBody>
      </p:sp>
      <p:sp>
        <p:nvSpPr>
          <p:cNvPr id="421" name="Google Shape;421;g3e868c9b429_1_154"/>
          <p:cNvSpPr/>
          <p:nvPr/>
        </p:nvSpPr>
        <p:spPr>
          <a:xfrm>
            <a:off x="12344400" y="9683496"/>
            <a:ext cx="5253300" cy="41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7559"/>
              </a:buClr>
              <a:buSzPts val="1600"/>
              <a:buFont typeface="Garamond"/>
              <a:buNone/>
            </a:pPr>
            <a:r>
              <a:rPr i="1" lang="en-US" sz="1600">
                <a:solidFill>
                  <a:srgbClr val="8C7559"/>
                </a:solidFill>
                <a:latin typeface="Garamond"/>
                <a:ea typeface="Garamond"/>
                <a:cs typeface="Garamond"/>
                <a:sym typeface="Garamond"/>
              </a:rPr>
              <a:t>MGTA 495  ·  Milestone 04</a:t>
            </a:r>
            <a:endParaRPr sz="16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1A0E"/>
        </a:solidFill>
      </p:bgPr>
    </p:bg>
    <p:spTree>
      <p:nvGrpSpPr>
        <p:cNvPr id="426" name="Shape 426"/>
        <p:cNvGrpSpPr/>
        <p:nvPr/>
      </p:nvGrpSpPr>
      <p:grpSpPr>
        <a:xfrm>
          <a:off x="0" y="0"/>
          <a:ext cx="0" cy="0"/>
          <a:chOff x="0" y="0"/>
          <a:chExt cx="0" cy="0"/>
        </a:xfrm>
      </p:grpSpPr>
      <p:sp>
        <p:nvSpPr>
          <p:cNvPr id="427" name="Google Shape;427;g3e868c9b429_1_182"/>
          <p:cNvSpPr/>
          <p:nvPr/>
        </p:nvSpPr>
        <p:spPr>
          <a:xfrm>
            <a:off x="0" y="0"/>
            <a:ext cx="18287700" cy="2196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sp>
        <p:nvSpPr>
          <p:cNvPr id="428" name="Google Shape;428;g3e868c9b429_1_182"/>
          <p:cNvSpPr/>
          <p:nvPr/>
        </p:nvSpPr>
        <p:spPr>
          <a:xfrm>
            <a:off x="0" y="10067544"/>
            <a:ext cx="18287700" cy="219600"/>
          </a:xfrm>
          <a:prstGeom prst="rect">
            <a:avLst/>
          </a:prstGeom>
          <a:solidFill>
            <a:srgbClr val="C8943A"/>
          </a:solidFill>
          <a:ln cap="flat" cmpd="sng" w="19050">
            <a:solidFill>
              <a:srgbClr val="C8943A"/>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700">
              <a:solidFill>
                <a:schemeClr val="dk1"/>
              </a:solidFill>
              <a:latin typeface="Calibri"/>
              <a:ea typeface="Calibri"/>
              <a:cs typeface="Calibri"/>
              <a:sym typeface="Calibri"/>
            </a:endParaRPr>
          </a:p>
        </p:txBody>
      </p:sp>
      <p:pic>
        <p:nvPicPr>
          <p:cNvPr descr="preencoded.png" id="429" name="Google Shape;429;g3e868c9b429_1_182"/>
          <p:cNvPicPr preferRelativeResize="0"/>
          <p:nvPr/>
        </p:nvPicPr>
        <p:blipFill rotWithShape="1">
          <a:blip r:embed="rId3">
            <a:alphaModFix amt="88000"/>
          </a:blip>
          <a:srcRect b="0" l="0" r="0" t="0"/>
          <a:stretch/>
        </p:blipFill>
        <p:spPr>
          <a:xfrm>
            <a:off x="8115072" y="2125980"/>
            <a:ext cx="2057402" cy="2057402"/>
          </a:xfrm>
          <a:prstGeom prst="rect">
            <a:avLst/>
          </a:prstGeom>
          <a:noFill/>
          <a:ln>
            <a:noFill/>
          </a:ln>
        </p:spPr>
      </p:pic>
      <p:sp>
        <p:nvSpPr>
          <p:cNvPr id="430" name="Google Shape;430;g3e868c9b429_1_182"/>
          <p:cNvSpPr/>
          <p:nvPr/>
        </p:nvSpPr>
        <p:spPr>
          <a:xfrm>
            <a:off x="0" y="4320540"/>
            <a:ext cx="18287700" cy="150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C784"/>
              </a:buClr>
              <a:buSzPts val="8700"/>
              <a:buFont typeface="Garamond"/>
              <a:buNone/>
            </a:pPr>
            <a:r>
              <a:rPr b="1" lang="en-US" sz="8700">
                <a:solidFill>
                  <a:srgbClr val="F5C784"/>
                </a:solidFill>
                <a:latin typeface="Garamond"/>
                <a:ea typeface="Garamond"/>
                <a:cs typeface="Garamond"/>
                <a:sym typeface="Garamond"/>
              </a:rPr>
              <a:t>Thank You</a:t>
            </a:r>
            <a:endParaRPr sz="8700">
              <a:solidFill>
                <a:schemeClr val="dk1"/>
              </a:solidFill>
              <a:latin typeface="Calibri"/>
              <a:ea typeface="Calibri"/>
              <a:cs typeface="Calibri"/>
              <a:sym typeface="Calibri"/>
            </a:endParaRPr>
          </a:p>
        </p:txBody>
      </p:sp>
      <p:sp>
        <p:nvSpPr>
          <p:cNvPr id="431" name="Google Shape;431;g3e868c9b429_1_182"/>
          <p:cNvSpPr/>
          <p:nvPr/>
        </p:nvSpPr>
        <p:spPr>
          <a:xfrm>
            <a:off x="0" y="5966460"/>
            <a:ext cx="182877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B49A"/>
              </a:buClr>
              <a:buSzPts val="2900"/>
              <a:buFont typeface="Garamond"/>
              <a:buNone/>
            </a:pPr>
            <a:r>
              <a:rPr i="1" lang="en-US" sz="2900">
                <a:solidFill>
                  <a:srgbClr val="C6B49A"/>
                </a:solidFill>
                <a:latin typeface="Garamond"/>
                <a:ea typeface="Garamond"/>
                <a:cs typeface="Garamond"/>
                <a:sym typeface="Garamond"/>
              </a:rPr>
              <a:t>BrewFlow AI — smart help for every shift, with people in charge</a:t>
            </a:r>
            <a:endParaRPr sz="2900">
              <a:solidFill>
                <a:schemeClr val="dk1"/>
              </a:solidFill>
              <a:latin typeface="Calibri"/>
              <a:ea typeface="Calibri"/>
              <a:cs typeface="Calibri"/>
              <a:sym typeface="Calibri"/>
            </a:endParaRPr>
          </a:p>
        </p:txBody>
      </p:sp>
      <p:sp>
        <p:nvSpPr>
          <p:cNvPr id="432" name="Google Shape;432;g3e868c9b429_1_182"/>
          <p:cNvSpPr/>
          <p:nvPr/>
        </p:nvSpPr>
        <p:spPr>
          <a:xfrm>
            <a:off x="0" y="7063740"/>
            <a:ext cx="18287700" cy="548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C784"/>
              </a:buClr>
              <a:buSzPts val="2400"/>
              <a:buFont typeface="Garamond"/>
              <a:buNone/>
            </a:pPr>
            <a:r>
              <a:rPr b="1" lang="en-US" sz="2400">
                <a:solidFill>
                  <a:srgbClr val="F5C784"/>
                </a:solidFill>
                <a:latin typeface="Garamond"/>
                <a:ea typeface="Garamond"/>
                <a:cs typeface="Garamond"/>
                <a:sym typeface="Garamond"/>
              </a:rPr>
              <a:t>Group 8</a:t>
            </a:r>
            <a:r>
              <a:rPr lang="en-US" sz="2400">
                <a:solidFill>
                  <a:srgbClr val="C6B49A"/>
                </a:solidFill>
                <a:latin typeface="Garamond"/>
                <a:ea typeface="Garamond"/>
                <a:cs typeface="Garamond"/>
                <a:sym typeface="Garamond"/>
              </a:rPr>
              <a:t>  ·  Leia Kawamura / Eesha Jagdhane / Zekai Li  ·  MGTA 495 · Milestone 04</a:t>
            </a:r>
            <a:endParaRPr sz="2400">
              <a:solidFill>
                <a:schemeClr val="dk1"/>
              </a:solidFill>
              <a:latin typeface="Calibri"/>
              <a:ea typeface="Calibri"/>
              <a:cs typeface="Calibri"/>
              <a:sym typeface="Calibri"/>
            </a:endParaRPr>
          </a:p>
        </p:txBody>
      </p:sp>
      <p:sp>
        <p:nvSpPr>
          <p:cNvPr id="433" name="Google Shape;433;g3e868c9b429_1_182"/>
          <p:cNvSpPr/>
          <p:nvPr/>
        </p:nvSpPr>
        <p:spPr>
          <a:xfrm>
            <a:off x="0" y="8983980"/>
            <a:ext cx="18287700" cy="548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C7559"/>
              </a:buClr>
              <a:buSzPts val="1700"/>
              <a:buFont typeface="Calibri"/>
              <a:buNone/>
            </a:pPr>
            <a:r>
              <a:rPr i="1" lang="en-US" sz="1700">
                <a:solidFill>
                  <a:srgbClr val="8C7559"/>
                </a:solidFill>
                <a:latin typeface="Calibri"/>
                <a:ea typeface="Calibri"/>
                <a:cs typeface="Calibri"/>
                <a:sym typeface="Calibri"/>
              </a:rPr>
              <a:t>All data is simulated for educational purposes only.</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